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58" r:id="rId5"/>
    <p:sldId id="259" r:id="rId6"/>
    <p:sldId id="260" r:id="rId7"/>
    <p:sldId id="261" r:id="rId8"/>
    <p:sldId id="269" r:id="rId9"/>
    <p:sldId id="262" r:id="rId10"/>
    <p:sldId id="263" r:id="rId11"/>
    <p:sldId id="270" r:id="rId12"/>
    <p:sldId id="264" r:id="rId13"/>
    <p:sldId id="265" r:id="rId14"/>
    <p:sldId id="266" r:id="rId15"/>
    <p:sldId id="267" r:id="rId16"/>
    <p:sldId id="268"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11"/>
    <p:restoredTop sz="94698"/>
  </p:normalViewPr>
  <p:slideViewPr>
    <p:cSldViewPr snapToGrid="0">
      <p:cViewPr varScale="1">
        <p:scale>
          <a:sx n="120" d="100"/>
          <a:sy n="120" d="100"/>
        </p:scale>
        <p:origin x="192" y="24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老师好，我是人工智能学院数据科学与大数据技术专业的陈琦。我的毕业设计题目是"面向经营分析场景的指标语义约束智能分析Agent设计与实现"，指导教师是韦善于老师。下面我将从研究背景、研究现状、核心问题、研究内容、系统架构、实验方案等方面进行汇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共分为十一个部分，首先介绍研究背景与意义，然后梳理国内外研究现状及不足，接着提出核心研究问题，明确研究内容与目标，阐述研究方法，重点介绍系统总体架构设计和实验方案，最后说明技术路线、进度安排与预期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随着大语言模型和智能代理技术的发展，微软Fabric、阿里云ChatBI等产品已经实现了自然语言问数。但在真实经营分析场景中，核心痛点是"查询可执行但结论不可信"——SQL语法正确不代表业务口径正确。经营指标如销售额、复购率等是包含定义、口径、维度、时间窗口的复合语义对象。本研究引入指标语义约束，推动系统从语法正确走向业务正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国内外研究主要沿三个方向展开：一是Text-to-SQL与智能问数，LLM显著提升了生成能力但语义歧义仍是挑战；二是语义层与业务治理，传统语义层正向代理式语义层演进；三是智能分析Agent与评测，研究重点转向可信性与可评估性。但现有研究存在四点不足：缺少业务口径约束机制、缺少结果校验机制、缺少经营场景综合评测框架、中文场景研究不足。这正是本课题的切入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课题聚焦三个核心研究问题。Q1关注建模层面：经营指标的定义、口径、维度和查询逻辑如何统一建模为机器可读的语义知识。Q2关注机制层面：语义约束如何提升Agent在理解、SQL生成和结果解释三个环节的一致性。Q3关注验证层面：通过对比实验验证带语义约束的Agent是否在任务成功率、指标一致性和人工成本上更优。三个问题层层递进，构成完整的研究逻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研究内容包括五个方面：文献梳理、指标语义约束建模、Agent架构设计、原型系统实现和对比实验评测。研究目标有四项：提出指标语义约束建模方法、构建可运行的Agent原型、建立评测指标体系、为后续研究提供可复用思路。五项内容支撑四项目标，形成从理论到实践的完整研究链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研究采用五种方法：文献分析法梳理理论基础，知识建模法构建指标语义知识库，系统设计法实现Agent原型，对比实验法验证有效性，案例验证法展示应用价值。五种方法形成从理论到应用的完整闭环：文献分析定方向，知识建模建核心，系统设计出原型，对比实验验效果，案例验证显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系统总体架构采用六大模块的流水线设计：任务理解模块解析自然语言问题，指标语义匹配模块将业务术语映射到标准指标定义，执行规划模块生成查询步骤，查询生成模块在语义约束下生成SQL，结果校验模块检查口径合规性并触发修正，洞察生成模块输出经营分析结论。核心是指标语义知识库作为约束层贯穿全流程，架构具有语义约束贯穿、闭环自修正、模块化可扩展和中文场景适配四大特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实验采用对照设计：基线系统是不带语义约束的常规Text-to-SQL流程，实验系统是带指标语义约束的Agent。两者使用同一底层LLM、同一数据库和同一测试任务集，仅控制"是否引入语义约束"这一变量。评测从六个维度展开：SQL执行准确率、指标语义一致性（核心）、任务完成率、平均修正次数、人工修正成本和洞察可用性。其中指标语义一致性是本研究最核心的差异化评测维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技术路线分七步：文献调研定方向，语义建模建核心，数据环境打基础，系统实现出原型，实验设计做对照，对比实验验效果，总结结论提建议。数据来源采用"公开数据集+自建资源"的组合：公开零售电商数据作为实验底座，Spider/BIRD等基准参考评测方法，自建指标语义知识库提供业务约束，自建经营分析任务集支撑对比评测。所有数据均不涉及企业敏感信息，符合本科毕业论文的可行性与合规性要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时间进度从2026年8月到2027年5月，共分七个阶段：8月中下旬完成选题与开题，9-10月深化文献与方案设计，11-12月开发原型系统，2027年1-2月联调实验，3月分析结果撰写核心章节，4月完成初稿修改，5月定稿查重答辩。预期成果包括四项：毕业论文、语义约束建模方案、Agent原型系统和评测指标体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参考文献共12篇，分为三大方向：Text-to-SQL综述与基准包括Liu等人2025年的综述、Huang等人2025年的研究、BIRD基准等6篇；语义层与智能BI产品包括ThoughtSpot的Agentic Semantic Layer、微软Fabric Copilot、阿里云ChatBI等3篇；Agent评测与指标管理包括微软Copilot Studio评测、Metrics Advisor等3篇。这些文献为本课题提供了坚实的理论基础和技术参考。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以上就是我的开题报告全部内容。本课题围绕经营分析场景中"查询可执行但结论不可信"的痛点，设计并实现一个带指标语义约束的智能分析Agent，通过六大模块架构和六维评测体系，验证语义约束对提升业务可信性的作用。恳请各位老师批评指正，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pic>
        <p:nvPicPr>
          <p:cNvPr id="11" name="Picture 10" descr="215127b9-89e6-4c2b-9ce2-257e3c14aa51_tile.png"/>
          <p:cNvPicPr>
            <a:picLocks noChangeAspect="1"/>
          </p:cNvPicPr>
          <p:nvPr/>
        </p:nvPicPr>
        <p:blipFill>
          <a:blip r:embed="rId13"/>
          <a:stretch>
            <a:fillRect/>
          </a:stretch>
        </p:blipFill>
        <p:spPr>
          <a:xfrm>
            <a:off x="0" y="0"/>
            <a:ext cx="12192000" cy="6858000"/>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pic>
        <p:nvPicPr>
          <p:cNvPr id="6" name="Picture 5" descr="215127b9-89e6-4c2b-9ce2-257e3c14aa51_tile.png"/>
          <p:cNvPicPr>
            <a:picLocks noChangeAspect="1"/>
          </p:cNvPicPr>
          <p:nvPr/>
        </p:nvPicPr>
        <p:blipFill>
          <a:blip r:embed="rId3"/>
          <a:stretch>
            <a:fillRect/>
          </a:stretch>
        </p:blipFill>
        <p:spPr>
          <a:xfrm>
            <a:off x="0" y="0"/>
            <a:ext cx="12192000" cy="6858000"/>
          </a:xfrm>
          <a:prstGeom prst="rect">
            <a:avLst/>
          </a:prstGeom>
        </p:spPr>
      </p:pic>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https://bi-agent.chenqi2005.xi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hyperlink" Target="https://bi-agent.chenqi2005.xin/" TargetMode="Externa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3E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76200"/>
          </a:xfrm>
          <a:prstGeom prst="roundRect">
            <a:avLst>
              <a:gd name="adj" fmla="val 0"/>
            </a:avLst>
          </a:prstGeom>
          <a:solidFill>
            <a:srgbClr val="1E5A8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3"/>
          <a:srcRect l="3233" r="3233"/>
          <a:stretch>
            <a:fillRect/>
          </a:stretch>
        </p:blipFill>
        <p:spPr>
          <a:xfrm>
            <a:off x="5397500" y="698500"/>
            <a:ext cx="1397000" cy="1397000"/>
          </a:xfrm>
          <a:prstGeom prst="rect">
            <a:avLst/>
          </a:prstGeom>
          <a:noFill/>
          <a:ln w="25400" cap="flat" cmpd="sng">
            <a:noFill/>
            <a:prstDash val="solid"/>
            <a:round/>
          </a:ln>
        </p:spPr>
      </p:pic>
      <p:sp>
        <p:nvSpPr>
          <p:cNvPr id="4" name="AutoShape 4"/>
          <p:cNvSpPr/>
          <p:nvPr/>
        </p:nvSpPr>
        <p:spPr>
          <a:xfrm>
            <a:off x="1016000" y="2349500"/>
            <a:ext cx="10160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3000" b="1" i="0" u="none" strike="noStrike" dirty="0" err="1">
                <a:solidFill>
                  <a:srgbClr val="1A2E42"/>
                </a:solidFill>
                <a:latin typeface="Noto Serif SC"/>
                <a:ea typeface="Noto Serif SC"/>
                <a:cs typeface="Noto Serif SC"/>
                <a:sym typeface="Noto Serif SC"/>
              </a:rPr>
              <a:t>面向经营分析场景的指标语义约束</a:t>
            </a:r>
            <a:endParaRPr lang="en-US" sz="1100" dirty="0"/>
          </a:p>
          <a:p>
            <a:pPr marL="0" indent="0" algn="ctr">
              <a:lnSpc>
                <a:spcPct val="108333"/>
              </a:lnSpc>
            </a:pPr>
            <a:r>
              <a:rPr lang="en-US" sz="3000" b="1" i="0" u="none" strike="noStrike" dirty="0" err="1">
                <a:solidFill>
                  <a:srgbClr val="1A2E42"/>
                </a:solidFill>
                <a:latin typeface="Noto Serif SC"/>
                <a:ea typeface="Noto Serif SC"/>
                <a:cs typeface="Noto Serif SC"/>
                <a:sym typeface="Noto Serif SC"/>
              </a:rPr>
              <a:t>智能分析Agent设计与实现</a:t>
            </a:r>
            <a:endParaRPr lang="en-US" sz="3000" b="1" i="0" u="none" strike="noStrike" dirty="0">
              <a:solidFill>
                <a:srgbClr val="1A2E42"/>
              </a:solidFill>
              <a:latin typeface="Noto Serif SC"/>
              <a:ea typeface="Noto Serif SC"/>
              <a:cs typeface="Noto Serif SC"/>
              <a:sym typeface="Noto Serif SC"/>
            </a:endParaRPr>
          </a:p>
        </p:txBody>
      </p:sp>
      <p:sp>
        <p:nvSpPr>
          <p:cNvPr id="5" name="AutoShape 5"/>
          <p:cNvSpPr/>
          <p:nvPr/>
        </p:nvSpPr>
        <p:spPr>
          <a:xfrm>
            <a:off x="1016000" y="3873500"/>
            <a:ext cx="101600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5B9BD5"/>
                </a:solidFill>
                <a:latin typeface="Noto Serif SC"/>
                <a:ea typeface="Noto Serif SC"/>
                <a:cs typeface="Noto Serif SC"/>
                <a:sym typeface="Noto Serif SC"/>
              </a:rPr>
              <a:t>本科毕业论文（设计）开题报告</a:t>
            </a:r>
            <a:endParaRPr lang="en-US" sz="1100"/>
          </a:p>
        </p:txBody>
      </p:sp>
      <p:cxnSp>
        <p:nvCxnSpPr>
          <p:cNvPr id="6" name="Connector 6"/>
          <p:cNvCxnSpPr/>
          <p:nvPr/>
        </p:nvCxnSpPr>
        <p:spPr>
          <a:xfrm rot="-24554">
            <a:off x="5207023" y="4565650"/>
            <a:ext cx="1778000" cy="12700"/>
          </a:xfrm>
          <a:prstGeom prst="straightConnector1">
            <a:avLst/>
          </a:prstGeom>
          <a:solidFill>
            <a:srgbClr val="DEE0E3">
              <a:alpha val="100000"/>
            </a:srgbClr>
          </a:solidFill>
          <a:ln w="25400" cap="flat" cmpd="sng">
            <a:solidFill>
              <a:srgbClr val="1E5A8E">
                <a:alpha val="100000"/>
              </a:srgbClr>
            </a:solidFill>
            <a:prstDash val="solid"/>
            <a:round/>
            <a:headEnd type="none" w="lg" len="lg"/>
            <a:tailEnd type="none" w="lg" len="lg"/>
          </a:ln>
        </p:spPr>
      </p:cxnSp>
      <p:sp>
        <p:nvSpPr>
          <p:cNvPr id="7" name="AutoShape 7"/>
          <p:cNvSpPr/>
          <p:nvPr/>
        </p:nvSpPr>
        <p:spPr>
          <a:xfrm>
            <a:off x="1016000" y="4889500"/>
            <a:ext cx="10160000" cy="1397000"/>
          </a:xfrm>
          <a:prstGeom prst="rect">
            <a:avLst/>
          </a:prstGeom>
          <a:noFill/>
          <a:ln w="12700" cap="flat" cmpd="sng">
            <a:noFill/>
            <a:prstDash val="solid"/>
            <a:round/>
          </a:ln>
        </p:spPr>
        <p:txBody>
          <a:bodyPr vert="horz" wrap="square" lIns="0" tIns="0" rIns="0" bIns="0" rtlCol="0" anchor="t" anchorCtr="0"/>
          <a:lstStyle/>
          <a:p>
            <a:pPr marL="0" indent="0" algn="ctr">
              <a:lnSpc>
                <a:spcPct val="150000"/>
              </a:lnSpc>
              <a:defRPr/>
            </a:pPr>
            <a:r>
              <a:rPr lang="en-US" sz="1400" b="0" i="0" u="none" strike="noStrike">
                <a:solidFill>
                  <a:srgbClr val="3A3A3A"/>
                </a:solidFill>
                <a:latin typeface="Noto Serif SC"/>
                <a:ea typeface="Noto Serif SC"/>
                <a:cs typeface="Noto Serif SC"/>
                <a:sym typeface="Noto Serif SC"/>
              </a:rPr>
              <a:t>汇报人：陈琦　　指导教师：韦善于</a:t>
            </a:r>
            <a:endParaRPr lang="en-US" sz="1100"/>
          </a:p>
          <a:p>
            <a:pPr marL="0" indent="0" algn="ctr">
              <a:lnSpc>
                <a:spcPct val="150000"/>
              </a:lnSpc>
            </a:pPr>
            <a:r>
              <a:rPr lang="en-US" sz="1400" b="0" i="0" u="none" strike="noStrike">
                <a:solidFill>
                  <a:srgbClr val="3A3A3A"/>
                </a:solidFill>
                <a:latin typeface="Noto Serif SC"/>
                <a:ea typeface="Noto Serif SC"/>
                <a:cs typeface="Noto Serif SC"/>
                <a:sym typeface="Noto Serif SC"/>
              </a:rPr>
              <a:t>人工智能学院　数据科学与大数据技术</a:t>
            </a:r>
          </a:p>
          <a:p>
            <a:pPr marL="0" indent="0" algn="ctr">
              <a:lnSpc>
                <a:spcPct val="150000"/>
              </a:lnSpc>
            </a:pPr>
            <a:r>
              <a:rPr lang="en-US" sz="1400" b="0" i="0" u="none" strike="noStrike">
                <a:solidFill>
                  <a:srgbClr val="3A3A3A"/>
                </a:solidFill>
                <a:latin typeface="Noto Serif SC"/>
                <a:ea typeface="Noto Serif SC"/>
                <a:cs typeface="Noto Serif SC"/>
                <a:sym typeface="Noto Serif SC"/>
              </a:rPr>
              <a:t>2026年9月</a:t>
            </a:r>
          </a:p>
        </p:txBody>
      </p:sp>
      <p:sp>
        <p:nvSpPr>
          <p:cNvPr id="8" name="TextBox 7"/>
          <p:cNvSpPr txBox="1"/>
          <p:nvPr/>
        </p:nvSpPr>
        <p:spPr>
          <a:xfrm>
            <a:off x="1005840" y="6217920"/>
            <a:ext cx="10149840" cy="307777"/>
          </a:xfrm>
          <a:prstGeom prst="rect">
            <a:avLst/>
          </a:prstGeom>
          <a:noFill/>
        </p:spPr>
        <p:txBody>
          <a:bodyPr wrap="square">
            <a:spAutoFit/>
          </a:bodyPr>
          <a:lstStyle/>
          <a:p>
            <a:pPr algn="ctr"/>
            <a:r>
              <a:rPr sz="1400" b="1" dirty="0">
                <a:solidFill>
                  <a:srgbClr val="6E50C8"/>
                </a:solidFill>
              </a:rPr>
              <a:t>🌐 </a:t>
            </a:r>
            <a:r>
              <a:rPr sz="1400" b="1" dirty="0" err="1">
                <a:solidFill>
                  <a:schemeClr val="accent1"/>
                </a:solidFill>
              </a:rPr>
              <a:t>在线体验地址：</a:t>
            </a:r>
            <a:r>
              <a:rPr lang="en-US" sz="1400" b="1" dirty="0" err="1">
                <a:solidFill>
                  <a:srgbClr val="6E50C8"/>
                </a:solidFill>
                <a:hlinkClick r:id="rId4"/>
              </a:rPr>
              <a:t>https</a:t>
            </a:r>
            <a:r>
              <a:rPr lang="en-US" sz="1400" b="1" dirty="0">
                <a:solidFill>
                  <a:srgbClr val="6E50C8"/>
                </a:solidFill>
                <a:hlinkClick r:id="rId4"/>
              </a:rPr>
              <a:t>://bi-agent.chenqi2005.xin/</a:t>
            </a:r>
            <a:endParaRPr sz="1400" b="1" dirty="0">
              <a:solidFill>
                <a:srgbClr val="6E50C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254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A2E42"/>
                </a:solidFill>
                <a:latin typeface="Noto Serif SC"/>
                <a:ea typeface="Noto Serif SC"/>
                <a:cs typeface="Noto Serif SC"/>
                <a:sym typeface="Noto Serif SC"/>
              </a:rPr>
              <a:t>目录</a:t>
            </a:r>
            <a:endParaRPr lang="en-US" sz="1100"/>
          </a:p>
        </p:txBody>
      </p:sp>
      <p:cxnSp>
        <p:nvCxnSpPr>
          <p:cNvPr id="3" name="Connector 3"/>
          <p:cNvCxnSpPr/>
          <p:nvPr/>
        </p:nvCxnSpPr>
        <p:spPr>
          <a:xfrm rot="-28647">
            <a:off x="1016026" y="1365250"/>
            <a:ext cx="1524000" cy="12700"/>
          </a:xfrm>
          <a:prstGeom prst="straightConnector1">
            <a:avLst/>
          </a:prstGeom>
          <a:solidFill>
            <a:srgbClr val="DEE0E3">
              <a:alpha val="100000"/>
            </a:srgbClr>
          </a:solidFill>
          <a:ln w="25400" cap="flat" cmpd="sng">
            <a:solidFill>
              <a:srgbClr val="1E5A8E">
                <a:alpha val="100000"/>
              </a:srgbClr>
            </a:solidFill>
            <a:prstDash val="solid"/>
            <a:round/>
            <a:headEnd type="none" w="lg" len="lg"/>
            <a:tailEnd type="none" w="lg" len="lg"/>
          </a:ln>
        </p:spPr>
      </p:cxnSp>
      <p:sp>
        <p:nvSpPr>
          <p:cNvPr id="4" name="AutoShape 4"/>
          <p:cNvSpPr/>
          <p:nvPr/>
        </p:nvSpPr>
        <p:spPr>
          <a:xfrm>
            <a:off x="1016000" y="1714500"/>
            <a:ext cx="482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5A8E"/>
                </a:solidFill>
                <a:latin typeface="Noto Serif SC"/>
                <a:ea typeface="Noto Serif SC"/>
                <a:cs typeface="Noto Serif SC"/>
                <a:sym typeface="Noto Serif SC"/>
              </a:rPr>
              <a:t>01　</a:t>
            </a:r>
            <a:r>
              <a:rPr lang="en-US" sz="1500" b="0" i="0" u="none" strike="noStrike">
                <a:solidFill>
                  <a:srgbClr val="3A3A3A"/>
                </a:solidFill>
                <a:latin typeface="Noto Serif SC"/>
                <a:ea typeface="Noto Serif SC"/>
                <a:cs typeface="Noto Serif SC"/>
                <a:sym typeface="Noto Serif SC"/>
              </a:rPr>
              <a:t>研究背景与意义</a:t>
            </a:r>
            <a:endParaRPr lang="en-US" sz="1100"/>
          </a:p>
        </p:txBody>
      </p:sp>
      <p:cxnSp>
        <p:nvCxnSpPr>
          <p:cNvPr id="5" name="Connector 5"/>
          <p:cNvCxnSpPr/>
          <p:nvPr/>
        </p:nvCxnSpPr>
        <p:spPr>
          <a:xfrm rot="-9549">
            <a:off x="1016009" y="2190750"/>
            <a:ext cx="4572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6" name="AutoShape 6"/>
          <p:cNvSpPr/>
          <p:nvPr/>
        </p:nvSpPr>
        <p:spPr>
          <a:xfrm>
            <a:off x="1016000" y="2286000"/>
            <a:ext cx="482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5A8E"/>
                </a:solidFill>
                <a:latin typeface="Noto Serif SC"/>
                <a:ea typeface="Noto Serif SC"/>
                <a:cs typeface="Noto Serif SC"/>
                <a:sym typeface="Noto Serif SC"/>
              </a:rPr>
              <a:t>02　</a:t>
            </a:r>
            <a:r>
              <a:rPr lang="en-US" sz="1500" b="0" i="0" u="none" strike="noStrike">
                <a:solidFill>
                  <a:srgbClr val="3A3A3A"/>
                </a:solidFill>
                <a:latin typeface="Noto Serif SC"/>
                <a:ea typeface="Noto Serif SC"/>
                <a:cs typeface="Noto Serif SC"/>
                <a:sym typeface="Noto Serif SC"/>
              </a:rPr>
              <a:t>国内外研究现状及不足</a:t>
            </a:r>
            <a:endParaRPr lang="en-US" sz="1100"/>
          </a:p>
        </p:txBody>
      </p:sp>
      <p:cxnSp>
        <p:nvCxnSpPr>
          <p:cNvPr id="7" name="Connector 7"/>
          <p:cNvCxnSpPr/>
          <p:nvPr/>
        </p:nvCxnSpPr>
        <p:spPr>
          <a:xfrm rot="-9549">
            <a:off x="1016009" y="2762250"/>
            <a:ext cx="4572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8" name="AutoShape 8"/>
          <p:cNvSpPr/>
          <p:nvPr/>
        </p:nvSpPr>
        <p:spPr>
          <a:xfrm>
            <a:off x="1016000" y="2857500"/>
            <a:ext cx="482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5A8E"/>
                </a:solidFill>
                <a:latin typeface="Noto Serif SC"/>
                <a:ea typeface="Noto Serif SC"/>
                <a:cs typeface="Noto Serif SC"/>
                <a:sym typeface="Noto Serif SC"/>
              </a:rPr>
              <a:t>03　</a:t>
            </a:r>
            <a:r>
              <a:rPr lang="en-US" sz="1500" b="0" i="0" u="none" strike="noStrike">
                <a:solidFill>
                  <a:srgbClr val="3A3A3A"/>
                </a:solidFill>
                <a:latin typeface="Noto Serif SC"/>
                <a:ea typeface="Noto Serif SC"/>
                <a:cs typeface="Noto Serif SC"/>
                <a:sym typeface="Noto Serif SC"/>
              </a:rPr>
              <a:t>核心研究问题</a:t>
            </a:r>
            <a:endParaRPr lang="en-US" sz="1100"/>
          </a:p>
        </p:txBody>
      </p:sp>
      <p:cxnSp>
        <p:nvCxnSpPr>
          <p:cNvPr id="9" name="Connector 9"/>
          <p:cNvCxnSpPr/>
          <p:nvPr/>
        </p:nvCxnSpPr>
        <p:spPr>
          <a:xfrm rot="-9549">
            <a:off x="1016009" y="3333750"/>
            <a:ext cx="4572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10" name="AutoShape 10"/>
          <p:cNvSpPr/>
          <p:nvPr/>
        </p:nvSpPr>
        <p:spPr>
          <a:xfrm>
            <a:off x="1016000" y="3429000"/>
            <a:ext cx="482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5A8E"/>
                </a:solidFill>
                <a:latin typeface="Noto Serif SC"/>
                <a:ea typeface="Noto Serif SC"/>
                <a:cs typeface="Noto Serif SC"/>
                <a:sym typeface="Noto Serif SC"/>
              </a:rPr>
              <a:t>04　</a:t>
            </a:r>
            <a:r>
              <a:rPr lang="en-US" sz="1500" b="0" i="0" u="none" strike="noStrike">
                <a:solidFill>
                  <a:srgbClr val="3A3A3A"/>
                </a:solidFill>
                <a:latin typeface="Noto Serif SC"/>
                <a:ea typeface="Noto Serif SC"/>
                <a:cs typeface="Noto Serif SC"/>
                <a:sym typeface="Noto Serif SC"/>
              </a:rPr>
              <a:t>研究内容与研究目标</a:t>
            </a:r>
            <a:endParaRPr lang="en-US" sz="1100"/>
          </a:p>
        </p:txBody>
      </p:sp>
      <p:cxnSp>
        <p:nvCxnSpPr>
          <p:cNvPr id="11" name="Connector 11"/>
          <p:cNvCxnSpPr/>
          <p:nvPr/>
        </p:nvCxnSpPr>
        <p:spPr>
          <a:xfrm rot="-9549">
            <a:off x="1016009" y="3905250"/>
            <a:ext cx="4572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12" name="AutoShape 12"/>
          <p:cNvSpPr/>
          <p:nvPr/>
        </p:nvSpPr>
        <p:spPr>
          <a:xfrm>
            <a:off x="1016000" y="4000500"/>
            <a:ext cx="482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5A8E"/>
                </a:solidFill>
                <a:latin typeface="Noto Serif SC"/>
                <a:ea typeface="Noto Serif SC"/>
                <a:cs typeface="Noto Serif SC"/>
                <a:sym typeface="Noto Serif SC"/>
              </a:rPr>
              <a:t>05　</a:t>
            </a:r>
            <a:r>
              <a:rPr lang="en-US" sz="1500" b="0" i="0" u="none" strike="noStrike">
                <a:solidFill>
                  <a:srgbClr val="3A3A3A"/>
                </a:solidFill>
                <a:latin typeface="Noto Serif SC"/>
                <a:ea typeface="Noto Serif SC"/>
                <a:cs typeface="Noto Serif SC"/>
                <a:sym typeface="Noto Serif SC"/>
              </a:rPr>
              <a:t>研究方法</a:t>
            </a:r>
            <a:endParaRPr lang="en-US" sz="1100"/>
          </a:p>
        </p:txBody>
      </p:sp>
      <p:cxnSp>
        <p:nvCxnSpPr>
          <p:cNvPr id="13" name="Connector 13"/>
          <p:cNvCxnSpPr/>
          <p:nvPr/>
        </p:nvCxnSpPr>
        <p:spPr>
          <a:xfrm rot="-9549">
            <a:off x="1016009" y="4476750"/>
            <a:ext cx="4572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14" name="AutoShape 14"/>
          <p:cNvSpPr/>
          <p:nvPr/>
        </p:nvSpPr>
        <p:spPr>
          <a:xfrm>
            <a:off x="1016000" y="4572000"/>
            <a:ext cx="482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5A8E"/>
                </a:solidFill>
                <a:latin typeface="Noto Serif SC"/>
                <a:ea typeface="Noto Serif SC"/>
                <a:cs typeface="Noto Serif SC"/>
                <a:sym typeface="Noto Serif SC"/>
              </a:rPr>
              <a:t>06　</a:t>
            </a:r>
            <a:r>
              <a:rPr lang="en-US" sz="1500" b="0" i="0" u="none" strike="noStrike">
                <a:solidFill>
                  <a:srgbClr val="3A3A3A"/>
                </a:solidFill>
                <a:latin typeface="Noto Serif SC"/>
                <a:ea typeface="Noto Serif SC"/>
                <a:cs typeface="Noto Serif SC"/>
                <a:sym typeface="Noto Serif SC"/>
              </a:rPr>
              <a:t>系统总体架构设计</a:t>
            </a:r>
            <a:endParaRPr lang="en-US" sz="1100"/>
          </a:p>
        </p:txBody>
      </p:sp>
      <p:cxnSp>
        <p:nvCxnSpPr>
          <p:cNvPr id="15" name="Connector 15"/>
          <p:cNvCxnSpPr/>
          <p:nvPr/>
        </p:nvCxnSpPr>
        <p:spPr>
          <a:xfrm rot="-9549">
            <a:off x="1016009" y="5048250"/>
            <a:ext cx="4572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16" name="AutoShape 16"/>
          <p:cNvSpPr/>
          <p:nvPr/>
        </p:nvSpPr>
        <p:spPr>
          <a:xfrm>
            <a:off x="6604000" y="1714500"/>
            <a:ext cx="457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5A8E"/>
                </a:solidFill>
                <a:latin typeface="Noto Serif SC"/>
                <a:ea typeface="Noto Serif SC"/>
                <a:cs typeface="Noto Serif SC"/>
                <a:sym typeface="Noto Serif SC"/>
              </a:rPr>
              <a:t>07　</a:t>
            </a:r>
            <a:r>
              <a:rPr lang="en-US" sz="1500" b="0" i="0" u="none" strike="noStrike">
                <a:solidFill>
                  <a:srgbClr val="3A3A3A"/>
                </a:solidFill>
                <a:latin typeface="Noto Serif SC"/>
                <a:ea typeface="Noto Serif SC"/>
                <a:cs typeface="Noto Serif SC"/>
                <a:sym typeface="Noto Serif SC"/>
              </a:rPr>
              <a:t>实验方案与评测指标</a:t>
            </a:r>
            <a:endParaRPr lang="en-US" sz="1100"/>
          </a:p>
        </p:txBody>
      </p:sp>
      <p:cxnSp>
        <p:nvCxnSpPr>
          <p:cNvPr id="17" name="Connector 17"/>
          <p:cNvCxnSpPr/>
          <p:nvPr/>
        </p:nvCxnSpPr>
        <p:spPr>
          <a:xfrm rot="-9549">
            <a:off x="6604009" y="2190750"/>
            <a:ext cx="4572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18" name="AutoShape 18"/>
          <p:cNvSpPr/>
          <p:nvPr/>
        </p:nvSpPr>
        <p:spPr>
          <a:xfrm>
            <a:off x="6604000" y="2286000"/>
            <a:ext cx="457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5A8E"/>
                </a:solidFill>
                <a:latin typeface="Noto Serif SC"/>
                <a:ea typeface="Noto Serif SC"/>
                <a:cs typeface="Noto Serif SC"/>
                <a:sym typeface="Noto Serif SC"/>
              </a:rPr>
              <a:t>08　</a:t>
            </a:r>
            <a:r>
              <a:rPr lang="en-US" sz="1500" b="0" i="0" u="none" strike="noStrike">
                <a:solidFill>
                  <a:srgbClr val="3A3A3A"/>
                </a:solidFill>
                <a:latin typeface="Noto Serif SC"/>
                <a:ea typeface="Noto Serif SC"/>
                <a:cs typeface="Noto Serif SC"/>
                <a:sym typeface="Noto Serif SC"/>
              </a:rPr>
              <a:t>技术路线与数据来源</a:t>
            </a:r>
            <a:endParaRPr lang="en-US" sz="1100"/>
          </a:p>
        </p:txBody>
      </p:sp>
      <p:cxnSp>
        <p:nvCxnSpPr>
          <p:cNvPr id="19" name="Connector 19"/>
          <p:cNvCxnSpPr/>
          <p:nvPr/>
        </p:nvCxnSpPr>
        <p:spPr>
          <a:xfrm rot="-9549">
            <a:off x="6604009" y="2762250"/>
            <a:ext cx="4572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20" name="AutoShape 20"/>
          <p:cNvSpPr/>
          <p:nvPr/>
        </p:nvSpPr>
        <p:spPr>
          <a:xfrm>
            <a:off x="6604000" y="2857500"/>
            <a:ext cx="457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5A8E"/>
                </a:solidFill>
                <a:latin typeface="Noto Serif SC"/>
                <a:ea typeface="Noto Serif SC"/>
                <a:cs typeface="Noto Serif SC"/>
                <a:sym typeface="Noto Serif SC"/>
              </a:rPr>
              <a:t>09　</a:t>
            </a:r>
            <a:r>
              <a:rPr lang="en-US" sz="1500" b="0" i="0" u="none" strike="noStrike">
                <a:solidFill>
                  <a:srgbClr val="3A3A3A"/>
                </a:solidFill>
                <a:latin typeface="Noto Serif SC"/>
                <a:ea typeface="Noto Serif SC"/>
                <a:cs typeface="Noto Serif SC"/>
                <a:sym typeface="Noto Serif SC"/>
              </a:rPr>
              <a:t>进度安排与预期成果</a:t>
            </a:r>
            <a:endParaRPr lang="en-US" sz="1100"/>
          </a:p>
        </p:txBody>
      </p:sp>
      <p:cxnSp>
        <p:nvCxnSpPr>
          <p:cNvPr id="21" name="Connector 21"/>
          <p:cNvCxnSpPr/>
          <p:nvPr/>
        </p:nvCxnSpPr>
        <p:spPr>
          <a:xfrm rot="-9549">
            <a:off x="6604009" y="3333750"/>
            <a:ext cx="4572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22" name="AutoShape 22"/>
          <p:cNvSpPr/>
          <p:nvPr/>
        </p:nvSpPr>
        <p:spPr>
          <a:xfrm>
            <a:off x="6604000" y="3429000"/>
            <a:ext cx="457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5A8E"/>
                </a:solidFill>
                <a:latin typeface="Noto Serif SC"/>
                <a:ea typeface="Noto Serif SC"/>
                <a:cs typeface="Noto Serif SC"/>
                <a:sym typeface="Noto Serif SC"/>
              </a:rPr>
              <a:t>10　</a:t>
            </a:r>
            <a:r>
              <a:rPr lang="en-US" sz="1500" b="0" i="0" u="none" strike="noStrike">
                <a:solidFill>
                  <a:srgbClr val="3A3A3A"/>
                </a:solidFill>
                <a:latin typeface="Noto Serif SC"/>
                <a:ea typeface="Noto Serif SC"/>
                <a:cs typeface="Noto Serif SC"/>
                <a:sym typeface="Noto Serif SC"/>
              </a:rPr>
              <a:t>参考文献</a:t>
            </a:r>
            <a:endParaRPr lang="en-US" sz="1100"/>
          </a:p>
        </p:txBody>
      </p:sp>
      <p:cxnSp>
        <p:nvCxnSpPr>
          <p:cNvPr id="23" name="Connector 23"/>
          <p:cNvCxnSpPr/>
          <p:nvPr/>
        </p:nvCxnSpPr>
        <p:spPr>
          <a:xfrm rot="-9549">
            <a:off x="6604009" y="3905250"/>
            <a:ext cx="4572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24" name="AutoShape 24"/>
          <p:cNvSpPr/>
          <p:nvPr/>
        </p:nvSpPr>
        <p:spPr>
          <a:xfrm>
            <a:off x="6604000" y="4000500"/>
            <a:ext cx="457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5A8E"/>
                </a:solidFill>
                <a:latin typeface="Noto Serif SC"/>
                <a:ea typeface="Noto Serif SC"/>
                <a:cs typeface="Noto Serif SC"/>
                <a:sym typeface="Noto Serif SC"/>
              </a:rPr>
              <a:t>11　</a:t>
            </a:r>
            <a:r>
              <a:rPr lang="en-US" sz="1500" b="0" i="0" u="none" strike="noStrike">
                <a:solidFill>
                  <a:srgbClr val="3A3A3A"/>
                </a:solidFill>
                <a:latin typeface="Noto Serif SC"/>
                <a:ea typeface="Noto Serif SC"/>
                <a:cs typeface="Noto Serif SC"/>
                <a:sym typeface="Noto Serif SC"/>
              </a:rPr>
              <a:t>致谢</a:t>
            </a:r>
            <a:endParaRPr lang="en-US" sz="1100"/>
          </a:p>
        </p:txBody>
      </p:sp>
      <p:cxnSp>
        <p:nvCxnSpPr>
          <p:cNvPr id="25" name="Connector 25"/>
          <p:cNvCxnSpPr/>
          <p:nvPr/>
        </p:nvCxnSpPr>
        <p:spPr>
          <a:xfrm rot="-9549">
            <a:off x="6604009" y="4476750"/>
            <a:ext cx="4572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26" name="AutoShape 26"/>
          <p:cNvSpPr/>
          <p:nvPr/>
        </p:nvSpPr>
        <p:spPr>
          <a:xfrm>
            <a:off x="1016000" y="5969000"/>
            <a:ext cx="10160000" cy="381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100" b="0" i="0" u="none" strike="noStrike">
                <a:solidFill>
                  <a:srgbClr val="888888"/>
                </a:solidFill>
                <a:latin typeface="Noto Serif SC"/>
                <a:ea typeface="Noto Serif SC"/>
                <a:cs typeface="Noto Serif SC"/>
                <a:sym typeface="Noto Serif SC"/>
              </a:rPr>
              <a:t>玉林师范学院　人工智能学院　开题报告</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76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5A8E"/>
                </a:solidFill>
                <a:latin typeface="Noto Serif SC"/>
                <a:ea typeface="Noto Serif SC"/>
                <a:cs typeface="Noto Serif SC"/>
                <a:sym typeface="Noto Serif SC"/>
              </a:rPr>
              <a:t>01</a:t>
            </a:r>
            <a:endParaRPr lang="en-US" sz="1100"/>
          </a:p>
        </p:txBody>
      </p:sp>
      <p:sp>
        <p:nvSpPr>
          <p:cNvPr id="3" name="AutoShape 3"/>
          <p:cNvSpPr/>
          <p:nvPr/>
        </p:nvSpPr>
        <p:spPr>
          <a:xfrm>
            <a:off x="1651000" y="50800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A2E42"/>
                </a:solidFill>
                <a:latin typeface="Noto Serif SC"/>
                <a:ea typeface="Noto Serif SC"/>
                <a:cs typeface="Noto Serif SC"/>
                <a:sym typeface="Noto Serif SC"/>
              </a:rPr>
              <a:t>研究背景与意义</a:t>
            </a:r>
            <a:endParaRPr lang="en-US" sz="1100"/>
          </a:p>
        </p:txBody>
      </p:sp>
      <p:cxnSp>
        <p:nvCxnSpPr>
          <p:cNvPr id="4" name="Connector 4"/>
          <p:cNvCxnSpPr/>
          <p:nvPr/>
        </p:nvCxnSpPr>
        <p:spPr>
          <a:xfrm rot="-4297">
            <a:off x="1016004" y="1073150"/>
            <a:ext cx="10160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5" name="AutoShape 5"/>
          <p:cNvSpPr/>
          <p:nvPr/>
        </p:nvSpPr>
        <p:spPr>
          <a:xfrm>
            <a:off x="1016000" y="1460500"/>
            <a:ext cx="4318000" cy="4318000"/>
          </a:xfrm>
          <a:prstGeom prst="roundRect">
            <a:avLst>
              <a:gd name="adj" fmla="val 0"/>
            </a:avLst>
          </a:prstGeom>
          <a:solidFill>
            <a:srgbClr val="1E5A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333500" y="1778000"/>
            <a:ext cx="368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B4D2EB"/>
                </a:solidFill>
                <a:latin typeface="Noto Serif SC"/>
                <a:ea typeface="Noto Serif SC"/>
                <a:cs typeface="Noto Serif SC"/>
                <a:sym typeface="Noto Serif SC"/>
              </a:rPr>
              <a:t>CORE PAIN POINT</a:t>
            </a:r>
            <a:endParaRPr lang="en-US" sz="1100"/>
          </a:p>
        </p:txBody>
      </p:sp>
      <p:sp>
        <p:nvSpPr>
          <p:cNvPr id="7" name="AutoShape 7"/>
          <p:cNvSpPr/>
          <p:nvPr/>
        </p:nvSpPr>
        <p:spPr>
          <a:xfrm>
            <a:off x="1333500" y="2413000"/>
            <a:ext cx="3683000" cy="1524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2600" b="1" i="0" u="none" strike="noStrike">
                <a:solidFill>
                  <a:srgbClr val="FFFFFF"/>
                </a:solidFill>
                <a:latin typeface="Noto Serif SC"/>
                <a:ea typeface="Noto Serif SC"/>
                <a:cs typeface="Noto Serif SC"/>
                <a:sym typeface="Noto Serif SC"/>
              </a:rPr>
              <a:t>查询可执行，</a:t>
            </a:r>
            <a:endParaRPr lang="en-US" sz="1100"/>
          </a:p>
          <a:p>
            <a:pPr marL="0" indent="0" algn="l">
              <a:lnSpc>
                <a:spcPct val="116666"/>
              </a:lnSpc>
            </a:pPr>
            <a:r>
              <a:rPr lang="en-US" sz="2600" b="1" i="0" u="none" strike="noStrike">
                <a:solidFill>
                  <a:srgbClr val="FFFFFF"/>
                </a:solidFill>
                <a:latin typeface="Noto Serif SC"/>
                <a:ea typeface="Noto Serif SC"/>
                <a:cs typeface="Noto Serif SC"/>
                <a:sym typeface="Noto Serif SC"/>
              </a:rPr>
              <a:t>但结论不可信</a:t>
            </a:r>
          </a:p>
        </p:txBody>
      </p:sp>
      <p:cxnSp>
        <p:nvCxnSpPr>
          <p:cNvPr id="8" name="Connector 8"/>
          <p:cNvCxnSpPr/>
          <p:nvPr/>
        </p:nvCxnSpPr>
        <p:spPr>
          <a:xfrm rot="-45833">
            <a:off x="1333542" y="4121150"/>
            <a:ext cx="952500" cy="12700"/>
          </a:xfrm>
          <a:prstGeom prst="straightConnector1">
            <a:avLst/>
          </a:prstGeom>
          <a:solidFill>
            <a:srgbClr val="DEE0E3">
              <a:alpha val="100000"/>
            </a:srgbClr>
          </a:solidFill>
          <a:ln w="25400" cap="flat" cmpd="sng">
            <a:solidFill>
              <a:srgbClr val="C9A961">
                <a:alpha val="100000"/>
              </a:srgbClr>
            </a:solidFill>
            <a:prstDash val="solid"/>
            <a:round/>
            <a:headEnd type="none" w="lg" len="lg"/>
            <a:tailEnd type="none" w="lg" len="lg"/>
          </a:ln>
        </p:spPr>
      </p:cxnSp>
      <p:sp>
        <p:nvSpPr>
          <p:cNvPr id="9" name="AutoShape 9"/>
          <p:cNvSpPr/>
          <p:nvPr/>
        </p:nvSpPr>
        <p:spPr>
          <a:xfrm>
            <a:off x="1333500" y="4318000"/>
            <a:ext cx="3683000" cy="1270000"/>
          </a:xfrm>
          <a:prstGeom prst="rect">
            <a:avLst/>
          </a:prstGeom>
          <a:noFill/>
          <a:ln w="12700" cap="flat" cmpd="sng">
            <a:noFill/>
            <a:prstDash val="solid"/>
            <a:round/>
          </a:ln>
        </p:spPr>
        <p:txBody>
          <a:bodyPr vert="horz" wrap="square" lIns="0" tIns="0" rIns="0" bIns="0" rtlCol="0" anchor="t" anchorCtr="0"/>
          <a:lstStyle/>
          <a:p>
            <a:pPr marL="0" indent="0" algn="l">
              <a:lnSpc>
                <a:spcPct val="133333"/>
              </a:lnSpc>
              <a:defRPr/>
            </a:pPr>
            <a:r>
              <a:rPr lang="en-US" sz="1300" b="0" i="0" u="none" strike="noStrike">
                <a:solidFill>
                  <a:srgbClr val="C8DCF0"/>
                </a:solidFill>
                <a:latin typeface="Noto Serif SC"/>
                <a:ea typeface="Noto Serif SC"/>
                <a:cs typeface="Noto Serif SC"/>
                <a:sym typeface="Noto Serif SC"/>
              </a:rPr>
              <a:t>现有Text-to-SQL侧重语法准确率，忽视经营指标的业务口径定义，导致指标口径漂移、维度理解偏差与结果解释不一致。</a:t>
            </a:r>
            <a:endParaRPr lang="en-US" sz="1100"/>
          </a:p>
        </p:txBody>
      </p:sp>
      <p:sp>
        <p:nvSpPr>
          <p:cNvPr id="10" name="AutoShape 10"/>
          <p:cNvSpPr/>
          <p:nvPr/>
        </p:nvSpPr>
        <p:spPr>
          <a:xfrm>
            <a:off x="5842000" y="1460500"/>
            <a:ext cx="533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A2E42"/>
                </a:solidFill>
                <a:latin typeface="Noto Serif SC"/>
                <a:ea typeface="Noto Serif SC"/>
                <a:cs typeface="Noto Serif SC"/>
                <a:sym typeface="Noto Serif SC"/>
              </a:rPr>
              <a:t>背景与意义</a:t>
            </a:r>
            <a:endParaRPr lang="en-US" sz="1100"/>
          </a:p>
        </p:txBody>
      </p:sp>
      <p:sp>
        <p:nvSpPr>
          <p:cNvPr id="11" name="AutoShape 11"/>
          <p:cNvSpPr/>
          <p:nvPr/>
        </p:nvSpPr>
        <p:spPr>
          <a:xfrm>
            <a:off x="5842000" y="2032000"/>
            <a:ext cx="5334000" cy="825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1" i="0" u="none" strike="noStrike">
                <a:solidFill>
                  <a:srgbClr val="1E5A8E"/>
                </a:solidFill>
                <a:latin typeface="Noto Serif SC"/>
                <a:ea typeface="Noto Serif SC"/>
                <a:cs typeface="Noto Serif SC"/>
                <a:sym typeface="Noto Serif SC"/>
              </a:rPr>
              <a:t>智能BI快速发展：</a:t>
            </a:r>
            <a:r>
              <a:rPr lang="en-US" sz="1400" b="0" i="0" u="none" strike="noStrike">
                <a:solidFill>
                  <a:srgbClr val="3A3A3A"/>
                </a:solidFill>
                <a:latin typeface="Noto Serif SC"/>
                <a:ea typeface="Noto Serif SC"/>
                <a:cs typeface="Noto Serif SC"/>
                <a:sym typeface="Noto Serif SC"/>
              </a:rPr>
              <a:t>大模型驱动自然语言问数，微软Fabric、阿里云ChatBI已落地应用，数据分析从"人工写SQL"转向"自然语言提问"。</a:t>
            </a:r>
            <a:endParaRPr lang="en-US" sz="1100"/>
          </a:p>
        </p:txBody>
      </p:sp>
      <p:sp>
        <p:nvSpPr>
          <p:cNvPr id="12" name="AutoShape 12"/>
          <p:cNvSpPr/>
          <p:nvPr/>
        </p:nvSpPr>
        <p:spPr>
          <a:xfrm>
            <a:off x="5842000" y="2921000"/>
            <a:ext cx="5334000" cy="825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1" i="0" u="none" strike="noStrike">
                <a:solidFill>
                  <a:srgbClr val="1E5A8E"/>
                </a:solidFill>
                <a:latin typeface="Noto Serif SC"/>
                <a:ea typeface="Noto Serif SC"/>
                <a:cs typeface="Noto Serif SC"/>
                <a:sym typeface="Noto Serif SC"/>
              </a:rPr>
              <a:t>指标是复合语义对象：</a:t>
            </a:r>
            <a:r>
              <a:rPr lang="en-US" sz="1400" b="0" i="0" u="none" strike="noStrike">
                <a:solidFill>
                  <a:srgbClr val="3A3A3A"/>
                </a:solidFill>
                <a:latin typeface="Noto Serif SC"/>
                <a:ea typeface="Noto Serif SC"/>
                <a:cs typeface="Noto Serif SC"/>
                <a:sym typeface="Noto Serif SC"/>
              </a:rPr>
              <a:t>"销售额""复购率"等指标包含业务定义、计算口径、维度边界、时间窗口和权限规则，绝非简单字段名。</a:t>
            </a:r>
            <a:endParaRPr lang="en-US" sz="1100"/>
          </a:p>
        </p:txBody>
      </p:sp>
      <p:sp>
        <p:nvSpPr>
          <p:cNvPr id="13" name="AutoShape 13"/>
          <p:cNvSpPr/>
          <p:nvPr/>
        </p:nvSpPr>
        <p:spPr>
          <a:xfrm>
            <a:off x="5842000" y="3810000"/>
            <a:ext cx="5334000" cy="825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1" i="0" u="none" strike="noStrike">
                <a:solidFill>
                  <a:srgbClr val="1E5A8E"/>
                </a:solidFill>
                <a:latin typeface="Noto Serif SC"/>
                <a:ea typeface="Noto Serif SC"/>
                <a:cs typeface="Noto Serif SC"/>
                <a:sym typeface="Noto Serif SC"/>
              </a:rPr>
              <a:t>语义层演进趋势：</a:t>
            </a:r>
            <a:r>
              <a:rPr lang="en-US" sz="1400" b="0" i="0" u="none" strike="noStrike">
                <a:solidFill>
                  <a:srgbClr val="3A3A3A"/>
                </a:solidFill>
                <a:latin typeface="Noto Serif SC"/>
                <a:ea typeface="Noto Serif SC"/>
                <a:cs typeface="Noto Serif SC"/>
                <a:sym typeface="Noto Serif SC"/>
              </a:rPr>
              <a:t>ThoughtSpot提出Agentic Semantic Layer，企业级AI分析核心是通过受治理的语义层统一业务定义与查询逻辑。</a:t>
            </a:r>
            <a:endParaRPr lang="en-US" sz="1100"/>
          </a:p>
        </p:txBody>
      </p:sp>
      <p:sp>
        <p:nvSpPr>
          <p:cNvPr id="14" name="AutoShape 14"/>
          <p:cNvSpPr/>
          <p:nvPr/>
        </p:nvSpPr>
        <p:spPr>
          <a:xfrm>
            <a:off x="5842000" y="4699000"/>
            <a:ext cx="5334000" cy="825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1" i="0" u="none" strike="noStrike">
                <a:solidFill>
                  <a:srgbClr val="1E5A8E"/>
                </a:solidFill>
                <a:latin typeface="Noto Serif SC"/>
                <a:ea typeface="Noto Serif SC"/>
                <a:cs typeface="Noto Serif SC"/>
                <a:sym typeface="Noto Serif SC"/>
              </a:rPr>
              <a:t>研究意义：</a:t>
            </a:r>
            <a:r>
              <a:rPr lang="en-US" sz="1400" b="0" i="0" u="none" strike="noStrike">
                <a:solidFill>
                  <a:srgbClr val="3A3A3A"/>
                </a:solidFill>
                <a:latin typeface="Noto Serif SC"/>
                <a:ea typeface="Noto Serif SC"/>
                <a:cs typeface="Noto Serif SC"/>
                <a:sym typeface="Noto Serif SC"/>
              </a:rPr>
              <a:t>引入指标语义约束，推动智能分析系统从"语法正确"走向"业务正确"，兼具学术探索价值与工程落地意义。</a:t>
            </a:r>
            <a:endParaRPr lang="en-US" sz="1100"/>
          </a:p>
        </p:txBody>
      </p:sp>
      <p:sp>
        <p:nvSpPr>
          <p:cNvPr id="15" name="AutoShape 15"/>
          <p:cNvSpPr/>
          <p:nvPr/>
        </p:nvSpPr>
        <p:spPr>
          <a:xfrm>
            <a:off x="1016000" y="6286500"/>
            <a:ext cx="10160000" cy="3175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888888"/>
                </a:solidFill>
                <a:latin typeface="Noto Serif SC"/>
                <a:ea typeface="Noto Serif SC"/>
                <a:cs typeface="Noto Serif SC"/>
                <a:sym typeface="Noto Serif SC"/>
              </a:rPr>
              <a:t>01 / 研究背景与意义</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E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76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5A8E"/>
                </a:solidFill>
                <a:latin typeface="Noto Serif SC"/>
                <a:ea typeface="Noto Serif SC"/>
                <a:cs typeface="Noto Serif SC"/>
                <a:sym typeface="Noto Serif SC"/>
              </a:rPr>
              <a:t>02</a:t>
            </a:r>
            <a:endParaRPr lang="en-US" sz="1100"/>
          </a:p>
        </p:txBody>
      </p:sp>
      <p:sp>
        <p:nvSpPr>
          <p:cNvPr id="3" name="AutoShape 3"/>
          <p:cNvSpPr/>
          <p:nvPr/>
        </p:nvSpPr>
        <p:spPr>
          <a:xfrm>
            <a:off x="1651000" y="508000"/>
            <a:ext cx="635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A2E42"/>
                </a:solidFill>
                <a:latin typeface="Noto Serif SC"/>
                <a:ea typeface="Noto Serif SC"/>
                <a:cs typeface="Noto Serif SC"/>
                <a:sym typeface="Noto Serif SC"/>
              </a:rPr>
              <a:t>国内外研究现状及不足</a:t>
            </a:r>
            <a:endParaRPr lang="en-US" sz="1100"/>
          </a:p>
        </p:txBody>
      </p:sp>
      <p:cxnSp>
        <p:nvCxnSpPr>
          <p:cNvPr id="4" name="Connector 4"/>
          <p:cNvCxnSpPr/>
          <p:nvPr/>
        </p:nvCxnSpPr>
        <p:spPr>
          <a:xfrm rot="-4297">
            <a:off x="1016004" y="1073150"/>
            <a:ext cx="10160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5" name="AutoShape 5"/>
          <p:cNvSpPr/>
          <p:nvPr/>
        </p:nvSpPr>
        <p:spPr>
          <a:xfrm>
            <a:off x="1016000" y="1270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E5A8E"/>
                </a:solidFill>
                <a:latin typeface="Noto Serif SC"/>
                <a:ea typeface="Noto Serif SC"/>
                <a:cs typeface="Noto Serif SC"/>
                <a:sym typeface="Noto Serif SC"/>
              </a:rPr>
              <a:t>研究进展</a:t>
            </a:r>
            <a:endParaRPr lang="en-US" sz="1100"/>
          </a:p>
        </p:txBody>
      </p:sp>
      <p:sp>
        <p:nvSpPr>
          <p:cNvPr id="6" name="AutoShape 6"/>
          <p:cNvSpPr/>
          <p:nvPr/>
        </p:nvSpPr>
        <p:spPr>
          <a:xfrm>
            <a:off x="1016000" y="1651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A2E42"/>
                </a:solidFill>
                <a:latin typeface="Noto Serif SC"/>
                <a:ea typeface="Noto Serif SC"/>
                <a:cs typeface="Noto Serif SC"/>
                <a:sym typeface="Noto Serif SC"/>
              </a:rPr>
              <a:t>Text-to-SQL与智能问数</a:t>
            </a:r>
            <a:endParaRPr lang="en-US" sz="1100"/>
          </a:p>
        </p:txBody>
      </p:sp>
      <p:sp>
        <p:nvSpPr>
          <p:cNvPr id="7" name="AutoShape 7"/>
          <p:cNvSpPr/>
          <p:nvPr/>
        </p:nvSpPr>
        <p:spPr>
          <a:xfrm>
            <a:off x="1016000" y="2057400"/>
            <a:ext cx="3175000" cy="1016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200" b="0" i="0" u="none" strike="noStrike">
                <a:solidFill>
                  <a:srgbClr val="505050"/>
                </a:solidFill>
                <a:latin typeface="Noto Serif SC"/>
                <a:ea typeface="Noto Serif SC"/>
                <a:cs typeface="Noto Serif SC"/>
                <a:sym typeface="Noto Serif SC"/>
              </a:rPr>
              <a:t>LLM显著提升SQL生成能力，但在语义歧义、跨域泛化、模式匹配和错误修复方面仍存在系统性挑战。</a:t>
            </a:r>
            <a:endParaRPr lang="en-US" sz="1100"/>
          </a:p>
        </p:txBody>
      </p:sp>
      <p:cxnSp>
        <p:nvCxnSpPr>
          <p:cNvPr id="8" name="Connector 8"/>
          <p:cNvCxnSpPr/>
          <p:nvPr/>
        </p:nvCxnSpPr>
        <p:spPr>
          <a:xfrm rot="5368748">
            <a:off x="3810000" y="2343179"/>
            <a:ext cx="1397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9" name="AutoShape 9"/>
          <p:cNvSpPr/>
          <p:nvPr/>
        </p:nvSpPr>
        <p:spPr>
          <a:xfrm>
            <a:off x="4762500" y="1651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A2E42"/>
                </a:solidFill>
                <a:latin typeface="Noto Serif SC"/>
                <a:ea typeface="Noto Serif SC"/>
                <a:cs typeface="Noto Serif SC"/>
                <a:sym typeface="Noto Serif SC"/>
              </a:rPr>
              <a:t>语义层与业务治理</a:t>
            </a:r>
            <a:endParaRPr lang="en-US" sz="1100"/>
          </a:p>
        </p:txBody>
      </p:sp>
      <p:sp>
        <p:nvSpPr>
          <p:cNvPr id="10" name="AutoShape 10"/>
          <p:cNvSpPr/>
          <p:nvPr/>
        </p:nvSpPr>
        <p:spPr>
          <a:xfrm>
            <a:off x="4762500" y="2057400"/>
            <a:ext cx="3175000" cy="1016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200" b="0" i="0" u="none" strike="noStrike">
                <a:solidFill>
                  <a:srgbClr val="505050"/>
                </a:solidFill>
                <a:latin typeface="Noto Serif SC"/>
                <a:ea typeface="Noto Serif SC"/>
                <a:cs typeface="Noto Serif SC"/>
                <a:sym typeface="Noto Serif SC"/>
              </a:rPr>
              <a:t>传统面向仪表板的语义层正向支持代理推理与执行的"代理式语义层"演化，强调业务定义与查询逻辑统一。</a:t>
            </a:r>
            <a:endParaRPr lang="en-US" sz="1100"/>
          </a:p>
        </p:txBody>
      </p:sp>
      <p:cxnSp>
        <p:nvCxnSpPr>
          <p:cNvPr id="11" name="Connector 11"/>
          <p:cNvCxnSpPr/>
          <p:nvPr/>
        </p:nvCxnSpPr>
        <p:spPr>
          <a:xfrm rot="5368748">
            <a:off x="7556500" y="2343179"/>
            <a:ext cx="1397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12" name="AutoShape 12"/>
          <p:cNvSpPr/>
          <p:nvPr/>
        </p:nvSpPr>
        <p:spPr>
          <a:xfrm>
            <a:off x="8509000" y="1651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A2E42"/>
                </a:solidFill>
                <a:latin typeface="Noto Serif SC"/>
                <a:ea typeface="Noto Serif SC"/>
                <a:cs typeface="Noto Serif SC"/>
                <a:sym typeface="Noto Serif SC"/>
              </a:rPr>
              <a:t>智能Agent与评测</a:t>
            </a:r>
            <a:endParaRPr lang="en-US" sz="1100"/>
          </a:p>
        </p:txBody>
      </p:sp>
      <p:sp>
        <p:nvSpPr>
          <p:cNvPr id="13" name="AutoShape 13"/>
          <p:cNvSpPr/>
          <p:nvPr/>
        </p:nvSpPr>
        <p:spPr>
          <a:xfrm>
            <a:off x="8509000" y="2057400"/>
            <a:ext cx="2667000" cy="1016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200" b="0" i="0" u="none" strike="noStrike">
                <a:solidFill>
                  <a:srgbClr val="505050"/>
                </a:solidFill>
                <a:latin typeface="Noto Serif SC"/>
                <a:ea typeface="Noto Serif SC"/>
                <a:cs typeface="Noto Serif SC"/>
                <a:sym typeface="Noto Serif SC"/>
              </a:rPr>
              <a:t>研究重点从"能不能做"转向"是否稳定、可信和可评估"；BIRD等基准表明真实场景仍有较大性能差距。</a:t>
            </a:r>
            <a:endParaRPr lang="en-US" sz="1100"/>
          </a:p>
        </p:txBody>
      </p:sp>
      <p:cxnSp>
        <p:nvCxnSpPr>
          <p:cNvPr id="14" name="Connector 14"/>
          <p:cNvCxnSpPr/>
          <p:nvPr/>
        </p:nvCxnSpPr>
        <p:spPr>
          <a:xfrm rot="-4297">
            <a:off x="1016004" y="3359150"/>
            <a:ext cx="10160000" cy="12700"/>
          </a:xfrm>
          <a:prstGeom prst="straightConnector1">
            <a:avLst/>
          </a:prstGeom>
          <a:solidFill>
            <a:srgbClr val="DEE0E3">
              <a:alpha val="100000"/>
            </a:srgbClr>
          </a:solidFill>
          <a:ln w="12700" cap="flat" cmpd="sng">
            <a:solidFill>
              <a:srgbClr val="1E5A8E">
                <a:alpha val="100000"/>
              </a:srgbClr>
            </a:solidFill>
            <a:prstDash val="solid"/>
            <a:round/>
            <a:headEnd type="none" w="med" len="med"/>
            <a:tailEnd type="none" w="med" len="med"/>
          </a:ln>
        </p:spPr>
      </p:cxnSp>
      <p:sp>
        <p:nvSpPr>
          <p:cNvPr id="15" name="AutoShape 15"/>
          <p:cNvSpPr/>
          <p:nvPr/>
        </p:nvSpPr>
        <p:spPr>
          <a:xfrm>
            <a:off x="1016000" y="35306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8B4545"/>
                </a:solidFill>
                <a:latin typeface="Noto Serif SC"/>
                <a:ea typeface="Noto Serif SC"/>
                <a:cs typeface="Noto Serif SC"/>
                <a:sym typeface="Noto Serif SC"/>
              </a:rPr>
              <a:t>现有研究不足</a:t>
            </a:r>
            <a:endParaRPr lang="en-US" sz="1100"/>
          </a:p>
        </p:txBody>
      </p:sp>
      <p:sp>
        <p:nvSpPr>
          <p:cNvPr id="16" name="AutoShape 16"/>
          <p:cNvSpPr/>
          <p:nvPr/>
        </p:nvSpPr>
        <p:spPr>
          <a:xfrm>
            <a:off x="1016000" y="3937000"/>
            <a:ext cx="4826000" cy="698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1" i="0" u="none" strike="noStrike">
                <a:solidFill>
                  <a:srgbClr val="8B4545"/>
                </a:solidFill>
                <a:latin typeface="Noto Serif SC"/>
                <a:ea typeface="Noto Serif SC"/>
                <a:cs typeface="Noto Serif SC"/>
                <a:sym typeface="Noto Serif SC"/>
              </a:rPr>
              <a:t>01　</a:t>
            </a:r>
            <a:r>
              <a:rPr lang="en-US" sz="1300" b="0" i="0" u="none" strike="noStrike">
                <a:solidFill>
                  <a:srgbClr val="3A3A3A"/>
                </a:solidFill>
                <a:latin typeface="Noto Serif SC"/>
                <a:ea typeface="Noto Serif SC"/>
                <a:cs typeface="Noto Serif SC"/>
                <a:sym typeface="Noto Serif SC"/>
              </a:rPr>
              <a:t>Text-to-SQL侧重查询准确率，对指标定义、口径约束与业务规则的一致性关注不足。</a:t>
            </a:r>
            <a:endParaRPr lang="en-US" sz="1100"/>
          </a:p>
        </p:txBody>
      </p:sp>
      <p:sp>
        <p:nvSpPr>
          <p:cNvPr id="17" name="AutoShape 17"/>
          <p:cNvSpPr/>
          <p:nvPr/>
        </p:nvSpPr>
        <p:spPr>
          <a:xfrm>
            <a:off x="6096000" y="3937000"/>
            <a:ext cx="4826000" cy="698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1" i="0" u="none" strike="noStrike">
                <a:solidFill>
                  <a:srgbClr val="8B4545"/>
                </a:solidFill>
                <a:latin typeface="Noto Serif SC"/>
                <a:ea typeface="Noto Serif SC"/>
                <a:cs typeface="Noto Serif SC"/>
                <a:sym typeface="Noto Serif SC"/>
              </a:rPr>
              <a:t>02　</a:t>
            </a:r>
            <a:r>
              <a:rPr lang="en-US" sz="1300" b="0" i="0" u="none" strike="noStrike">
                <a:solidFill>
                  <a:srgbClr val="3A3A3A"/>
                </a:solidFill>
                <a:latin typeface="Noto Serif SC"/>
                <a:ea typeface="Noto Serif SC"/>
                <a:cs typeface="Noto Serif SC"/>
                <a:sym typeface="Noto Serif SC"/>
              </a:rPr>
              <a:t>智能BI强调交互体验，对"结果是否符合指标定义"的约束与校验机制研究不充分。</a:t>
            </a:r>
            <a:endParaRPr lang="en-US" sz="1100"/>
          </a:p>
        </p:txBody>
      </p:sp>
      <p:sp>
        <p:nvSpPr>
          <p:cNvPr id="18" name="AutoShape 18"/>
          <p:cNvSpPr/>
          <p:nvPr/>
        </p:nvSpPr>
        <p:spPr>
          <a:xfrm>
            <a:off x="1016000" y="4762500"/>
            <a:ext cx="4826000" cy="698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1" i="0" u="none" strike="noStrike">
                <a:solidFill>
                  <a:srgbClr val="8B4545"/>
                </a:solidFill>
                <a:latin typeface="Noto Serif SC"/>
                <a:ea typeface="Noto Serif SC"/>
                <a:cs typeface="Noto Serif SC"/>
                <a:sym typeface="Noto Serif SC"/>
              </a:rPr>
              <a:t>03　</a:t>
            </a:r>
            <a:r>
              <a:rPr lang="en-US" sz="1300" b="0" i="0" u="none" strike="noStrike">
                <a:solidFill>
                  <a:srgbClr val="3A3A3A"/>
                </a:solidFill>
                <a:latin typeface="Noto Serif SC"/>
                <a:ea typeface="Noto Serif SC"/>
                <a:cs typeface="Noto Serif SC"/>
                <a:sym typeface="Noto Serif SC"/>
              </a:rPr>
              <a:t>缺少面向经营分析场景的统一评测框架，尤其缺少指标语义一致性与人工修正成本评价。</a:t>
            </a:r>
            <a:endParaRPr lang="en-US" sz="1100"/>
          </a:p>
        </p:txBody>
      </p:sp>
      <p:sp>
        <p:nvSpPr>
          <p:cNvPr id="19" name="AutoShape 19"/>
          <p:cNvSpPr/>
          <p:nvPr/>
        </p:nvSpPr>
        <p:spPr>
          <a:xfrm>
            <a:off x="6096000" y="4762500"/>
            <a:ext cx="4826000" cy="698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1" i="0" u="none" strike="noStrike">
                <a:solidFill>
                  <a:srgbClr val="8B4545"/>
                </a:solidFill>
                <a:latin typeface="Noto Serif SC"/>
                <a:ea typeface="Noto Serif SC"/>
                <a:cs typeface="Noto Serif SC"/>
                <a:sym typeface="Noto Serif SC"/>
              </a:rPr>
              <a:t>04　</a:t>
            </a:r>
            <a:r>
              <a:rPr lang="en-US" sz="1300" b="0" i="0" u="none" strike="noStrike">
                <a:solidFill>
                  <a:srgbClr val="3A3A3A"/>
                </a:solidFill>
                <a:latin typeface="Noto Serif SC"/>
                <a:ea typeface="Noto Serif SC"/>
                <a:cs typeface="Noto Serif SC"/>
                <a:sym typeface="Noto Serif SC"/>
              </a:rPr>
              <a:t>中文业务场景、指标术语歧义与多轮分析任务研究不足，尚未形成工程可实现的完整方案。</a:t>
            </a:r>
            <a:endParaRPr lang="en-US" sz="1100"/>
          </a:p>
        </p:txBody>
      </p:sp>
      <p:sp>
        <p:nvSpPr>
          <p:cNvPr id="20" name="AutoShape 20"/>
          <p:cNvSpPr/>
          <p:nvPr/>
        </p:nvSpPr>
        <p:spPr>
          <a:xfrm>
            <a:off x="1016000" y="6286500"/>
            <a:ext cx="10160000" cy="3175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888888"/>
                </a:solidFill>
                <a:latin typeface="Noto Serif SC"/>
                <a:ea typeface="Noto Serif SC"/>
                <a:cs typeface="Noto Serif SC"/>
                <a:sym typeface="Noto Serif SC"/>
              </a:rPr>
              <a:t>02 / 国内外研究现状及不足</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76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5A8E"/>
                </a:solidFill>
                <a:latin typeface="Noto Serif SC"/>
                <a:ea typeface="Noto Serif SC"/>
                <a:cs typeface="Noto Serif SC"/>
                <a:sym typeface="Noto Serif SC"/>
              </a:rPr>
              <a:t>03</a:t>
            </a:r>
            <a:endParaRPr lang="en-US" sz="1100"/>
          </a:p>
        </p:txBody>
      </p:sp>
      <p:sp>
        <p:nvSpPr>
          <p:cNvPr id="3" name="AutoShape 3"/>
          <p:cNvSpPr/>
          <p:nvPr/>
        </p:nvSpPr>
        <p:spPr>
          <a:xfrm>
            <a:off x="1651000" y="50800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err="1">
                <a:solidFill>
                  <a:srgbClr val="1A2E42"/>
                </a:solidFill>
                <a:latin typeface="Noto Serif SC"/>
                <a:ea typeface="Noto Serif SC"/>
                <a:cs typeface="Noto Serif SC"/>
                <a:sym typeface="Noto Serif SC"/>
              </a:rPr>
              <a:t>核心研究问题</a:t>
            </a:r>
            <a:endParaRPr lang="en-US" sz="1100" dirty="0"/>
          </a:p>
        </p:txBody>
      </p:sp>
      <p:cxnSp>
        <p:nvCxnSpPr>
          <p:cNvPr id="4" name="Connector 4"/>
          <p:cNvCxnSpPr/>
          <p:nvPr/>
        </p:nvCxnSpPr>
        <p:spPr>
          <a:xfrm rot="-4297">
            <a:off x="1016004" y="1073150"/>
            <a:ext cx="10160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5" name="AutoShape 5"/>
          <p:cNvSpPr/>
          <p:nvPr/>
        </p:nvSpPr>
        <p:spPr>
          <a:xfrm>
            <a:off x="1016000" y="1397000"/>
            <a:ext cx="1016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46464"/>
                </a:solidFill>
                <a:latin typeface="Noto Serif SC"/>
                <a:ea typeface="Noto Serif SC"/>
                <a:cs typeface="Noto Serif SC"/>
                <a:sym typeface="Noto Serif SC"/>
              </a:rPr>
              <a:t>围绕"指标语义约束如何提升经营分析Agent的业务可信性"这一主线，聚焦以下三个核心问题：</a:t>
            </a:r>
            <a:endParaRPr lang="en-US" sz="1100"/>
          </a:p>
        </p:txBody>
      </p:sp>
      <p:sp>
        <p:nvSpPr>
          <p:cNvPr id="6" name="AutoShape 6"/>
          <p:cNvSpPr/>
          <p:nvPr/>
        </p:nvSpPr>
        <p:spPr>
          <a:xfrm>
            <a:off x="1016000" y="2095500"/>
            <a:ext cx="1270000" cy="1016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5600" b="1" i="0" u="none" strike="noStrike">
                <a:solidFill>
                  <a:srgbClr val="1E5A8E"/>
                </a:solidFill>
                <a:latin typeface="Noto Serif SC"/>
                <a:ea typeface="Noto Serif SC"/>
                <a:cs typeface="Noto Serif SC"/>
                <a:sym typeface="Noto Serif SC"/>
              </a:rPr>
              <a:t>Q1</a:t>
            </a:r>
            <a:endParaRPr lang="en-US" sz="1100"/>
          </a:p>
        </p:txBody>
      </p:sp>
      <p:sp>
        <p:nvSpPr>
          <p:cNvPr id="7" name="AutoShape 7"/>
          <p:cNvSpPr/>
          <p:nvPr/>
        </p:nvSpPr>
        <p:spPr>
          <a:xfrm>
            <a:off x="2413000" y="2159000"/>
            <a:ext cx="876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A2E42"/>
                </a:solidFill>
                <a:latin typeface="Noto Serif SC"/>
                <a:ea typeface="Noto Serif SC"/>
                <a:cs typeface="Noto Serif SC"/>
                <a:sym typeface="Noto Serif SC"/>
              </a:rPr>
              <a:t>指标语义如何建模供Agent调用？</a:t>
            </a:r>
            <a:endParaRPr lang="en-US" sz="1100"/>
          </a:p>
        </p:txBody>
      </p:sp>
      <p:sp>
        <p:nvSpPr>
          <p:cNvPr id="8" name="AutoShape 8"/>
          <p:cNvSpPr/>
          <p:nvPr/>
        </p:nvSpPr>
        <p:spPr>
          <a:xfrm>
            <a:off x="2413000" y="2603500"/>
            <a:ext cx="8763000" cy="571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505050"/>
                </a:solidFill>
                <a:latin typeface="Noto Serif SC"/>
                <a:ea typeface="Noto Serif SC"/>
                <a:cs typeface="Noto Serif SC"/>
                <a:sym typeface="Noto Serif SC"/>
              </a:rPr>
              <a:t>经营分析场景中的指标定义、口径规则、维度约束与查询逻辑应如何进行统一建模，形成机器可读、可执行、可校验的语义知识表示？</a:t>
            </a:r>
            <a:endParaRPr lang="en-US" sz="1100"/>
          </a:p>
        </p:txBody>
      </p:sp>
      <p:cxnSp>
        <p:nvCxnSpPr>
          <p:cNvPr id="9" name="Connector 9"/>
          <p:cNvCxnSpPr/>
          <p:nvPr/>
        </p:nvCxnSpPr>
        <p:spPr>
          <a:xfrm rot="-4297">
            <a:off x="1016004" y="3397250"/>
            <a:ext cx="10160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10" name="AutoShape 10"/>
          <p:cNvSpPr/>
          <p:nvPr/>
        </p:nvSpPr>
        <p:spPr>
          <a:xfrm>
            <a:off x="1016000" y="3594100"/>
            <a:ext cx="1270000" cy="1016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5600" b="1" i="0" u="none" strike="noStrike">
                <a:solidFill>
                  <a:srgbClr val="1E5A8E"/>
                </a:solidFill>
                <a:latin typeface="Noto Serif SC"/>
                <a:ea typeface="Noto Serif SC"/>
                <a:cs typeface="Noto Serif SC"/>
                <a:sym typeface="Noto Serif SC"/>
              </a:rPr>
              <a:t>Q2</a:t>
            </a:r>
            <a:endParaRPr lang="en-US" sz="1100"/>
          </a:p>
        </p:txBody>
      </p:sp>
      <p:sp>
        <p:nvSpPr>
          <p:cNvPr id="11" name="AutoShape 11"/>
          <p:cNvSpPr/>
          <p:nvPr/>
        </p:nvSpPr>
        <p:spPr>
          <a:xfrm>
            <a:off x="2413000" y="3657600"/>
            <a:ext cx="876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A2E42"/>
                </a:solidFill>
                <a:latin typeface="Noto Serif SC"/>
                <a:ea typeface="Noto Serif SC"/>
                <a:cs typeface="Noto Serif SC"/>
                <a:sym typeface="Noto Serif SC"/>
              </a:rPr>
              <a:t>语义约束如何提升分析一致性？</a:t>
            </a:r>
            <a:endParaRPr lang="en-US" sz="1100"/>
          </a:p>
        </p:txBody>
      </p:sp>
      <p:sp>
        <p:nvSpPr>
          <p:cNvPr id="12" name="AutoShape 12"/>
          <p:cNvSpPr/>
          <p:nvPr/>
        </p:nvSpPr>
        <p:spPr>
          <a:xfrm>
            <a:off x="2413000" y="4102100"/>
            <a:ext cx="8763000" cy="571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505050"/>
                </a:solidFill>
                <a:latin typeface="Noto Serif SC"/>
                <a:ea typeface="Noto Serif SC"/>
                <a:cs typeface="Noto Serif SC"/>
                <a:sym typeface="Noto Serif SC"/>
              </a:rPr>
              <a:t>在自然语言分析任务中，如何通过指标语义约束机制提高Agent对业务问题的理解准确性、SQL生成正确性与结果解释一致性？</a:t>
            </a:r>
            <a:endParaRPr lang="en-US" sz="1100"/>
          </a:p>
        </p:txBody>
      </p:sp>
      <p:cxnSp>
        <p:nvCxnSpPr>
          <p:cNvPr id="13" name="Connector 13"/>
          <p:cNvCxnSpPr/>
          <p:nvPr/>
        </p:nvCxnSpPr>
        <p:spPr>
          <a:xfrm rot="-4297">
            <a:off x="1016004" y="4895850"/>
            <a:ext cx="10160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14" name="AutoShape 14"/>
          <p:cNvSpPr/>
          <p:nvPr/>
        </p:nvSpPr>
        <p:spPr>
          <a:xfrm>
            <a:off x="1016000" y="5092700"/>
            <a:ext cx="1270000" cy="1016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5600" b="1" i="0" u="none" strike="noStrike">
                <a:solidFill>
                  <a:srgbClr val="1E5A8E"/>
                </a:solidFill>
                <a:latin typeface="Noto Serif SC"/>
                <a:ea typeface="Noto Serif SC"/>
                <a:cs typeface="Noto Serif SC"/>
                <a:sym typeface="Noto Serif SC"/>
              </a:rPr>
              <a:t>Q3</a:t>
            </a:r>
            <a:endParaRPr lang="en-US" sz="1100"/>
          </a:p>
        </p:txBody>
      </p:sp>
      <p:sp>
        <p:nvSpPr>
          <p:cNvPr id="15" name="AutoShape 15"/>
          <p:cNvSpPr/>
          <p:nvPr/>
        </p:nvSpPr>
        <p:spPr>
          <a:xfrm>
            <a:off x="2413000" y="5156200"/>
            <a:ext cx="876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A2E42"/>
                </a:solidFill>
                <a:latin typeface="Noto Serif SC"/>
                <a:ea typeface="Noto Serif SC"/>
                <a:cs typeface="Noto Serif SC"/>
                <a:sym typeface="Noto Serif SC"/>
              </a:rPr>
              <a:t>带约束Agent是否性能更优？</a:t>
            </a:r>
            <a:endParaRPr lang="en-US" sz="1100"/>
          </a:p>
        </p:txBody>
      </p:sp>
      <p:sp>
        <p:nvSpPr>
          <p:cNvPr id="16" name="AutoShape 16"/>
          <p:cNvSpPr/>
          <p:nvPr/>
        </p:nvSpPr>
        <p:spPr>
          <a:xfrm>
            <a:off x="2413000" y="5600700"/>
            <a:ext cx="8763000" cy="571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505050"/>
                </a:solidFill>
                <a:latin typeface="Noto Serif SC"/>
                <a:ea typeface="Noto Serif SC"/>
                <a:cs typeface="Noto Serif SC"/>
                <a:sym typeface="Noto Serif SC"/>
              </a:rPr>
              <a:t>相较于不带语义约束的常规问数流程，加入语义约束后的Agent能否在任务成功率、指标一致性和人工修正成本等维度取得更优表现？</a:t>
            </a:r>
            <a:endParaRPr lang="en-US" sz="1100"/>
          </a:p>
        </p:txBody>
      </p:sp>
      <p:sp>
        <p:nvSpPr>
          <p:cNvPr id="18" name="文本框 17">
            <a:extLst>
              <a:ext uri="{FF2B5EF4-FFF2-40B4-BE49-F238E27FC236}">
                <a16:creationId xmlns:a16="http://schemas.microsoft.com/office/drawing/2014/main" id="{234FA093-A557-D569-11EF-1736FCBF7D44}"/>
              </a:ext>
            </a:extLst>
          </p:cNvPr>
          <p:cNvSpPr txBox="1"/>
          <p:nvPr/>
        </p:nvSpPr>
        <p:spPr>
          <a:xfrm>
            <a:off x="5154132" y="6253383"/>
            <a:ext cx="6097772" cy="269433"/>
          </a:xfrm>
          <a:prstGeom prst="rect">
            <a:avLst/>
          </a:prstGeom>
          <a:noFill/>
        </p:spPr>
        <p:txBody>
          <a:bodyPr wrap="square">
            <a:spAutoFit/>
          </a:bodyPr>
          <a:lstStyle/>
          <a:p>
            <a:pPr marL="0" indent="0" algn="r">
              <a:lnSpc>
                <a:spcPct val="125000"/>
              </a:lnSpc>
              <a:defRPr/>
            </a:pPr>
            <a:r>
              <a:rPr lang="en-US" altLang="zh-CN" sz="1000" b="0" i="0" u="none" strike="noStrike" dirty="0">
                <a:solidFill>
                  <a:srgbClr val="888888"/>
                </a:solidFill>
                <a:latin typeface="Noto Serif SC"/>
                <a:ea typeface="Noto Serif SC"/>
                <a:cs typeface="Noto Serif SC"/>
                <a:sym typeface="Noto Serif SC"/>
              </a:rPr>
              <a:t>03 / </a:t>
            </a:r>
            <a:r>
              <a:rPr lang="zh-CN" altLang="en-US" sz="1000" b="0" i="0" u="none" strike="noStrike" dirty="0">
                <a:solidFill>
                  <a:srgbClr val="888888"/>
                </a:solidFill>
                <a:latin typeface="Noto Serif SC"/>
                <a:ea typeface="Noto Serif SC"/>
                <a:cs typeface="Noto Serif SC"/>
                <a:sym typeface="Noto Serif SC"/>
              </a:rPr>
              <a:t>核心研究问题</a:t>
            </a:r>
            <a:endParaRPr lang="en-US" altLang="zh-CN"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76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5A8E"/>
                </a:solidFill>
                <a:latin typeface="Noto Serif SC"/>
                <a:ea typeface="Noto Serif SC"/>
                <a:cs typeface="Noto Serif SC"/>
                <a:sym typeface="Noto Serif SC"/>
              </a:rPr>
              <a:t>04</a:t>
            </a:r>
            <a:endParaRPr lang="en-US" sz="1100"/>
          </a:p>
        </p:txBody>
      </p:sp>
      <p:sp>
        <p:nvSpPr>
          <p:cNvPr id="3" name="AutoShape 3"/>
          <p:cNvSpPr/>
          <p:nvPr/>
        </p:nvSpPr>
        <p:spPr>
          <a:xfrm>
            <a:off x="1651000" y="508000"/>
            <a:ext cx="635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A2E42"/>
                </a:solidFill>
                <a:latin typeface="Noto Serif SC"/>
                <a:ea typeface="Noto Serif SC"/>
                <a:cs typeface="Noto Serif SC"/>
                <a:sym typeface="Noto Serif SC"/>
              </a:rPr>
              <a:t>研究内容与研究目标</a:t>
            </a:r>
            <a:endParaRPr lang="en-US" sz="1100"/>
          </a:p>
        </p:txBody>
      </p:sp>
      <p:cxnSp>
        <p:nvCxnSpPr>
          <p:cNvPr id="4" name="Connector 4"/>
          <p:cNvCxnSpPr/>
          <p:nvPr/>
        </p:nvCxnSpPr>
        <p:spPr>
          <a:xfrm rot="-4297">
            <a:off x="1016004" y="1073150"/>
            <a:ext cx="10160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5" name="AutoShape 5"/>
          <p:cNvSpPr/>
          <p:nvPr/>
        </p:nvSpPr>
        <p:spPr>
          <a:xfrm>
            <a:off x="1016000" y="1270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E5A8E"/>
                </a:solidFill>
                <a:latin typeface="Noto Serif SC"/>
                <a:ea typeface="Noto Serif SC"/>
                <a:cs typeface="Noto Serif SC"/>
                <a:sym typeface="Noto Serif SC"/>
              </a:rPr>
              <a:t>研究内容（五项）</a:t>
            </a:r>
            <a:endParaRPr lang="en-US" sz="1100"/>
          </a:p>
        </p:txBody>
      </p:sp>
      <p:sp>
        <p:nvSpPr>
          <p:cNvPr id="6" name="AutoShape 6"/>
          <p:cNvSpPr/>
          <p:nvPr/>
        </p:nvSpPr>
        <p:spPr>
          <a:xfrm>
            <a:off x="1016000" y="1651000"/>
            <a:ext cx="4826000" cy="63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300" b="1" i="0" u="none" strike="noStrike">
                <a:solidFill>
                  <a:srgbClr val="1E5A8E"/>
                </a:solidFill>
                <a:latin typeface="Noto Serif SC"/>
                <a:ea typeface="Noto Serif SC"/>
                <a:cs typeface="Noto Serif SC"/>
                <a:sym typeface="Noto Serif SC"/>
              </a:rPr>
              <a:t>01　文献梳理：</a:t>
            </a:r>
            <a:r>
              <a:rPr lang="en-US" sz="1300" b="0" i="0" u="none" strike="noStrike">
                <a:solidFill>
                  <a:srgbClr val="3A3A3A"/>
                </a:solidFill>
                <a:latin typeface="Noto Serif SC"/>
                <a:ea typeface="Noto Serif SC"/>
                <a:cs typeface="Noto Serif SC"/>
                <a:sym typeface="Noto Serif SC"/>
              </a:rPr>
              <a:t>系统梳理Text-to-SQL、语义层、Agent分析与智能评测文献，构建理论基础与分析框架。</a:t>
            </a:r>
            <a:endParaRPr lang="en-US" sz="1100"/>
          </a:p>
        </p:txBody>
      </p:sp>
      <p:sp>
        <p:nvSpPr>
          <p:cNvPr id="7" name="AutoShape 7"/>
          <p:cNvSpPr/>
          <p:nvPr/>
        </p:nvSpPr>
        <p:spPr>
          <a:xfrm>
            <a:off x="1016000" y="2349500"/>
            <a:ext cx="4826000" cy="63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300" b="1" i="0" u="none" strike="noStrike">
                <a:solidFill>
                  <a:srgbClr val="1E5A8E"/>
                </a:solidFill>
                <a:latin typeface="Noto Serif SC"/>
                <a:ea typeface="Noto Serif SC"/>
                <a:cs typeface="Noto Serif SC"/>
                <a:sym typeface="Noto Serif SC"/>
              </a:rPr>
              <a:t>02　语义建模：</a:t>
            </a:r>
            <a:r>
              <a:rPr lang="en-US" sz="1300" b="0" i="0" u="none" strike="noStrike">
                <a:solidFill>
                  <a:srgbClr val="3A3A3A"/>
                </a:solidFill>
                <a:latin typeface="Noto Serif SC"/>
                <a:ea typeface="Noto Serif SC"/>
                <a:cs typeface="Noto Serif SC"/>
                <a:sym typeface="Noto Serif SC"/>
              </a:rPr>
              <a:t>设计指标语义约束模型，形成含指标定义、同义词映射、计算公式、维度限制、时间粒度和业务规则的知识表示方案。</a:t>
            </a:r>
            <a:endParaRPr lang="en-US" sz="1100"/>
          </a:p>
        </p:txBody>
      </p:sp>
      <p:sp>
        <p:nvSpPr>
          <p:cNvPr id="8" name="AutoShape 8"/>
          <p:cNvSpPr/>
          <p:nvPr/>
        </p:nvSpPr>
        <p:spPr>
          <a:xfrm>
            <a:off x="1016000" y="3111500"/>
            <a:ext cx="4826000" cy="63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300" b="1" i="0" u="none" strike="noStrike">
                <a:solidFill>
                  <a:srgbClr val="1E5A8E"/>
                </a:solidFill>
                <a:latin typeface="Noto Serif SC"/>
                <a:ea typeface="Noto Serif SC"/>
                <a:cs typeface="Noto Serif SC"/>
                <a:sym typeface="Noto Serif SC"/>
              </a:rPr>
              <a:t>03　架构设计：</a:t>
            </a:r>
            <a:r>
              <a:rPr lang="en-US" sz="1300" b="0" i="0" u="none" strike="noStrike">
                <a:solidFill>
                  <a:srgbClr val="3A3A3A"/>
                </a:solidFill>
                <a:latin typeface="Noto Serif SC"/>
                <a:ea typeface="Noto Serif SC"/>
                <a:cs typeface="Noto Serif SC"/>
                <a:sym typeface="Noto Serif SC"/>
              </a:rPr>
              <a:t>设计智能分析Agent总体架构，划分任务理解、指标语义匹配、执行规划、查询生成、结果校验、洞察生成六大模块。</a:t>
            </a:r>
            <a:endParaRPr lang="en-US" sz="1100"/>
          </a:p>
        </p:txBody>
      </p:sp>
      <p:sp>
        <p:nvSpPr>
          <p:cNvPr id="9" name="AutoShape 9"/>
          <p:cNvSpPr/>
          <p:nvPr/>
        </p:nvSpPr>
        <p:spPr>
          <a:xfrm>
            <a:off x="1016000" y="3873500"/>
            <a:ext cx="4826000" cy="63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300" b="1" i="0" u="none" strike="noStrike">
                <a:solidFill>
                  <a:srgbClr val="1E5A8E"/>
                </a:solidFill>
                <a:latin typeface="Noto Serif SC"/>
                <a:ea typeface="Noto Serif SC"/>
                <a:cs typeface="Noto Serif SC"/>
                <a:sym typeface="Noto Serif SC"/>
              </a:rPr>
              <a:t>04　原型实现：</a:t>
            </a:r>
            <a:r>
              <a:rPr lang="en-US" sz="1300" b="0" i="0" u="none" strike="noStrike">
                <a:solidFill>
                  <a:srgbClr val="3A3A3A"/>
                </a:solidFill>
                <a:latin typeface="Noto Serif SC"/>
                <a:ea typeface="Noto Serif SC"/>
                <a:cs typeface="Noto Serif SC"/>
                <a:sym typeface="Noto Serif SC"/>
              </a:rPr>
              <a:t>在公开零售/电商数据基础上构建实验环境，自建经营分析问题集与指标语义规则库，实现可运行原型系统。</a:t>
            </a:r>
            <a:endParaRPr lang="en-US" sz="1100"/>
          </a:p>
        </p:txBody>
      </p:sp>
      <p:sp>
        <p:nvSpPr>
          <p:cNvPr id="10" name="AutoShape 10"/>
          <p:cNvSpPr/>
          <p:nvPr/>
        </p:nvSpPr>
        <p:spPr>
          <a:xfrm>
            <a:off x="1016000" y="4635500"/>
            <a:ext cx="4826000" cy="635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300" b="1" i="0" u="none" strike="noStrike">
                <a:solidFill>
                  <a:srgbClr val="1E5A8E"/>
                </a:solidFill>
                <a:latin typeface="Noto Serif SC"/>
                <a:ea typeface="Noto Serif SC"/>
                <a:cs typeface="Noto Serif SC"/>
                <a:sym typeface="Noto Serif SC"/>
              </a:rPr>
              <a:t>05　对比实验：</a:t>
            </a:r>
            <a:r>
              <a:rPr lang="en-US" sz="1300" b="0" i="0" u="none" strike="noStrike">
                <a:solidFill>
                  <a:srgbClr val="3A3A3A"/>
                </a:solidFill>
                <a:latin typeface="Noto Serif SC"/>
                <a:ea typeface="Noto Serif SC"/>
                <a:cs typeface="Noto Serif SC"/>
                <a:sym typeface="Noto Serif SC"/>
              </a:rPr>
              <a:t>与不带语义约束的基线方案比较，从SQL准确率、语义一致性、任务完成率等维度验证方法有效性。</a:t>
            </a:r>
            <a:endParaRPr lang="en-US" sz="1100"/>
          </a:p>
        </p:txBody>
      </p:sp>
      <p:cxnSp>
        <p:nvCxnSpPr>
          <p:cNvPr id="11" name="Connector 11"/>
          <p:cNvCxnSpPr/>
          <p:nvPr/>
        </p:nvCxnSpPr>
        <p:spPr>
          <a:xfrm rot="5389582">
            <a:off x="4127500" y="3359160"/>
            <a:ext cx="4191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12" name="AutoShape 12"/>
          <p:cNvSpPr/>
          <p:nvPr/>
        </p:nvSpPr>
        <p:spPr>
          <a:xfrm>
            <a:off x="6477000" y="1270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8B6D39"/>
                </a:solidFill>
                <a:latin typeface="Noto Serif SC"/>
                <a:ea typeface="Noto Serif SC"/>
                <a:cs typeface="Noto Serif SC"/>
                <a:sym typeface="Noto Serif SC"/>
              </a:rPr>
              <a:t>研究目标（四项）</a:t>
            </a:r>
            <a:endParaRPr lang="en-US" sz="1100"/>
          </a:p>
        </p:txBody>
      </p:sp>
      <p:sp>
        <p:nvSpPr>
          <p:cNvPr id="13" name="AutoShape 13"/>
          <p:cNvSpPr/>
          <p:nvPr/>
        </p:nvSpPr>
        <p:spPr>
          <a:xfrm>
            <a:off x="6477000" y="1714500"/>
            <a:ext cx="4699000" cy="825500"/>
          </a:xfrm>
          <a:prstGeom prst="roundRect">
            <a:avLst>
              <a:gd name="adj" fmla="val 0"/>
            </a:avLst>
          </a:prstGeom>
          <a:solidFill>
            <a:srgbClr val="FFFFFF">
              <a:alpha val="100000"/>
            </a:srgbClr>
          </a:solidFill>
          <a:ln w="12700" cap="flat" cmpd="sng">
            <a:solidFill>
              <a:srgbClr val="1E5A8E">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667500" y="1803400"/>
            <a:ext cx="4318000" cy="6604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1" i="0" u="none" strike="noStrike">
                <a:solidFill>
                  <a:srgbClr val="1E5A8E"/>
                </a:solidFill>
                <a:latin typeface="Noto Serif SC"/>
                <a:ea typeface="Noto Serif SC"/>
                <a:cs typeface="Noto Serif SC"/>
                <a:sym typeface="Noto Serif SC"/>
              </a:rPr>
              <a:t>目标一　</a:t>
            </a:r>
            <a:r>
              <a:rPr lang="en-US" sz="1200" b="0" i="0" u="none" strike="noStrike">
                <a:solidFill>
                  <a:srgbClr val="3A3A3A"/>
                </a:solidFill>
                <a:latin typeface="Noto Serif SC"/>
                <a:ea typeface="Noto Serif SC"/>
                <a:cs typeface="Noto Serif SC"/>
                <a:sym typeface="Noto Serif SC"/>
              </a:rPr>
              <a:t>提出一套适用于经营分析任务的指标语义约束建模方法。</a:t>
            </a:r>
            <a:endParaRPr lang="en-US" sz="1100"/>
          </a:p>
        </p:txBody>
      </p:sp>
      <p:sp>
        <p:nvSpPr>
          <p:cNvPr id="15" name="AutoShape 15"/>
          <p:cNvSpPr/>
          <p:nvPr/>
        </p:nvSpPr>
        <p:spPr>
          <a:xfrm>
            <a:off x="6477000" y="2667000"/>
            <a:ext cx="4699000" cy="825500"/>
          </a:xfrm>
          <a:prstGeom prst="roundRect">
            <a:avLst>
              <a:gd name="adj" fmla="val 0"/>
            </a:avLst>
          </a:prstGeom>
          <a:solidFill>
            <a:srgbClr val="FFFFFF">
              <a:alpha val="100000"/>
            </a:srgbClr>
          </a:solidFill>
          <a:ln w="12700" cap="flat" cmpd="sng">
            <a:solidFill>
              <a:srgbClr val="1E5A8E">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667500" y="2755900"/>
            <a:ext cx="4318000" cy="6604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1" i="0" u="none" strike="noStrike">
                <a:solidFill>
                  <a:srgbClr val="1E5A8E"/>
                </a:solidFill>
                <a:latin typeface="Noto Serif SC"/>
                <a:ea typeface="Noto Serif SC"/>
                <a:cs typeface="Noto Serif SC"/>
                <a:sym typeface="Noto Serif SC"/>
              </a:rPr>
              <a:t>目标二　</a:t>
            </a:r>
            <a:r>
              <a:rPr lang="en-US" sz="1200" b="0" i="0" u="none" strike="noStrike">
                <a:solidFill>
                  <a:srgbClr val="3A3A3A"/>
                </a:solidFill>
                <a:latin typeface="Noto Serif SC"/>
                <a:ea typeface="Noto Serif SC"/>
                <a:cs typeface="Noto Serif SC"/>
                <a:sym typeface="Noto Serif SC"/>
              </a:rPr>
              <a:t>构建可运行的Agent原型，实现"理解—匹配—执行—校验—洞察"完整流程。</a:t>
            </a:r>
            <a:endParaRPr lang="en-US" sz="1100"/>
          </a:p>
        </p:txBody>
      </p:sp>
      <p:sp>
        <p:nvSpPr>
          <p:cNvPr id="17" name="AutoShape 17"/>
          <p:cNvSpPr/>
          <p:nvPr/>
        </p:nvSpPr>
        <p:spPr>
          <a:xfrm>
            <a:off x="6477000" y="3619500"/>
            <a:ext cx="4699000" cy="825500"/>
          </a:xfrm>
          <a:prstGeom prst="roundRect">
            <a:avLst>
              <a:gd name="adj" fmla="val 0"/>
            </a:avLst>
          </a:prstGeom>
          <a:solidFill>
            <a:srgbClr val="FFFFFF">
              <a:alpha val="100000"/>
            </a:srgbClr>
          </a:solidFill>
          <a:ln w="12700" cap="flat" cmpd="sng">
            <a:solidFill>
              <a:srgbClr val="1E5A8E">
                <a:alpha val="10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667500" y="3708400"/>
            <a:ext cx="4318000" cy="6604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1" i="0" u="none" strike="noStrike">
                <a:solidFill>
                  <a:srgbClr val="1E5A8E"/>
                </a:solidFill>
                <a:latin typeface="Noto Serif SC"/>
                <a:ea typeface="Noto Serif SC"/>
                <a:cs typeface="Noto Serif SC"/>
                <a:sym typeface="Noto Serif SC"/>
              </a:rPr>
              <a:t>目标三　</a:t>
            </a:r>
            <a:r>
              <a:rPr lang="en-US" sz="1200" b="0" i="0" u="none" strike="noStrike">
                <a:solidFill>
                  <a:srgbClr val="3A3A3A"/>
                </a:solidFill>
                <a:latin typeface="Noto Serif SC"/>
                <a:ea typeface="Noto Serif SC"/>
                <a:cs typeface="Noto Serif SC"/>
                <a:sym typeface="Noto Serif SC"/>
              </a:rPr>
              <a:t>建立智能分析Agent评测指标体系，对系统性能、可信性与可用性进行验证。</a:t>
            </a:r>
            <a:endParaRPr lang="en-US" sz="1100"/>
          </a:p>
        </p:txBody>
      </p:sp>
      <p:sp>
        <p:nvSpPr>
          <p:cNvPr id="19" name="AutoShape 19"/>
          <p:cNvSpPr/>
          <p:nvPr/>
        </p:nvSpPr>
        <p:spPr>
          <a:xfrm>
            <a:off x="6477000" y="4572000"/>
            <a:ext cx="4699000" cy="825500"/>
          </a:xfrm>
          <a:prstGeom prst="roundRect">
            <a:avLst>
              <a:gd name="adj" fmla="val 0"/>
            </a:avLst>
          </a:prstGeom>
          <a:solidFill>
            <a:srgbClr val="FFFFFF">
              <a:alpha val="100000"/>
            </a:srgbClr>
          </a:solidFill>
          <a:ln w="12700" cap="flat" cmpd="sng">
            <a:solidFill>
              <a:srgbClr val="1E5A8E">
                <a:alpha val="10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667500" y="4660900"/>
            <a:ext cx="4318000" cy="6604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1" i="0" u="none" strike="noStrike">
                <a:solidFill>
                  <a:srgbClr val="1E5A8E"/>
                </a:solidFill>
                <a:latin typeface="Noto Serif SC"/>
                <a:ea typeface="Noto Serif SC"/>
                <a:cs typeface="Noto Serif SC"/>
                <a:sym typeface="Noto Serif SC"/>
              </a:rPr>
              <a:t>目标四　</a:t>
            </a:r>
            <a:r>
              <a:rPr lang="en-US" sz="1200" b="0" i="0" u="none" strike="noStrike">
                <a:solidFill>
                  <a:srgbClr val="3A3A3A"/>
                </a:solidFill>
                <a:latin typeface="Noto Serif SC"/>
                <a:ea typeface="Noto Serif SC"/>
                <a:cs typeface="Noto Serif SC"/>
                <a:sym typeface="Noto Serif SC"/>
              </a:rPr>
              <a:t>为企业级智能BI、数据分析Copilot与经营分析自动化提供可复用设计思路。</a:t>
            </a:r>
            <a:endParaRPr lang="en-US" sz="1100"/>
          </a:p>
        </p:txBody>
      </p:sp>
      <p:sp>
        <p:nvSpPr>
          <p:cNvPr id="21" name="AutoShape 21"/>
          <p:cNvSpPr/>
          <p:nvPr/>
        </p:nvSpPr>
        <p:spPr>
          <a:xfrm>
            <a:off x="1016000" y="6286500"/>
            <a:ext cx="10160000" cy="3175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dirty="0">
                <a:solidFill>
                  <a:srgbClr val="888888"/>
                </a:solidFill>
                <a:latin typeface="Noto Serif SC"/>
                <a:ea typeface="Noto Serif SC"/>
                <a:cs typeface="Noto Serif SC"/>
                <a:sym typeface="Noto Serif SC"/>
              </a:rPr>
              <a:t>04 / </a:t>
            </a:r>
            <a:r>
              <a:rPr lang="en-US" sz="1000" b="0" i="0" u="none" strike="noStrike" dirty="0" err="1">
                <a:solidFill>
                  <a:srgbClr val="888888"/>
                </a:solidFill>
                <a:latin typeface="Noto Serif SC"/>
                <a:ea typeface="Noto Serif SC"/>
                <a:cs typeface="Noto Serif SC"/>
                <a:sym typeface="Noto Serif SC"/>
              </a:rPr>
              <a:t>研究内容与研究目标</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71130" y="297406"/>
            <a:ext cx="10972800" cy="548640"/>
          </a:xfrm>
          <a:prstGeom prst="rect">
            <a:avLst/>
          </a:prstGeom>
          <a:noFill/>
        </p:spPr>
        <p:txBody>
          <a:bodyPr wrap="square">
            <a:spAutoFit/>
          </a:bodyPr>
          <a:lstStyle/>
          <a:p>
            <a:pPr algn="l"/>
            <a:r>
              <a:rPr sz="2800" b="1" dirty="0">
                <a:solidFill>
                  <a:srgbClr val="28283C"/>
                </a:solidFill>
              </a:rPr>
              <a:t>🚀 </a:t>
            </a:r>
            <a:r>
              <a:rPr sz="2800" b="1" dirty="0" err="1">
                <a:solidFill>
                  <a:srgbClr val="28283C"/>
                </a:solidFill>
              </a:rPr>
              <a:t>原型系统已完成</a:t>
            </a:r>
            <a:r>
              <a:rPr sz="2800" b="1" dirty="0">
                <a:solidFill>
                  <a:srgbClr val="28283C"/>
                </a:solidFill>
              </a:rPr>
              <a:t> · </a:t>
            </a:r>
            <a:r>
              <a:rPr sz="2800" b="1" dirty="0" err="1">
                <a:solidFill>
                  <a:srgbClr val="28283C"/>
                </a:solidFill>
              </a:rPr>
              <a:t>在线可体验</a:t>
            </a:r>
            <a:endParaRPr sz="2800" b="1" dirty="0">
              <a:solidFill>
                <a:srgbClr val="28283C"/>
              </a:solidFill>
            </a:endParaRPr>
          </a:p>
        </p:txBody>
      </p:sp>
      <p:sp>
        <p:nvSpPr>
          <p:cNvPr id="3" name="TextBox 2"/>
          <p:cNvSpPr txBox="1"/>
          <p:nvPr/>
        </p:nvSpPr>
        <p:spPr>
          <a:xfrm>
            <a:off x="572995" y="829486"/>
            <a:ext cx="10972800" cy="292388"/>
          </a:xfrm>
          <a:prstGeom prst="rect">
            <a:avLst/>
          </a:prstGeom>
          <a:noFill/>
        </p:spPr>
        <p:txBody>
          <a:bodyPr wrap="square">
            <a:spAutoFit/>
          </a:bodyPr>
          <a:lstStyle/>
          <a:p>
            <a:pPr algn="l"/>
            <a:r>
              <a:rPr sz="1300" b="0" dirty="0" err="1">
                <a:solidFill>
                  <a:srgbClr val="646478"/>
                </a:solidFill>
              </a:rPr>
              <a:t>已落地为可运行系统，覆盖六模块流水线全流程</a:t>
            </a:r>
            <a:r>
              <a:rPr sz="1300" b="0" dirty="0">
                <a:solidFill>
                  <a:srgbClr val="646478"/>
                </a:solidFill>
              </a:rPr>
              <a:t>　|　</a:t>
            </a:r>
            <a:r>
              <a:rPr sz="1300" b="0" dirty="0" err="1">
                <a:solidFill>
                  <a:srgbClr val="646478"/>
                </a:solidFill>
              </a:rPr>
              <a:t>访问地址：</a:t>
            </a:r>
            <a:r>
              <a:rPr lang="en-US" sz="1300" b="0" dirty="0" err="1">
                <a:solidFill>
                  <a:srgbClr val="646478"/>
                </a:solidFill>
                <a:hlinkClick r:id="rId2"/>
              </a:rPr>
              <a:t>https</a:t>
            </a:r>
            <a:r>
              <a:rPr lang="en-US" sz="1300" b="0" dirty="0">
                <a:solidFill>
                  <a:srgbClr val="646478"/>
                </a:solidFill>
                <a:hlinkClick r:id="rId2"/>
              </a:rPr>
              <a:t>://bi-agent.chenqi2005.xin/</a:t>
            </a:r>
            <a:endParaRPr sz="1300" b="0" dirty="0">
              <a:solidFill>
                <a:srgbClr val="646478"/>
              </a:solidFill>
            </a:endParaRPr>
          </a:p>
        </p:txBody>
      </p:sp>
      <p:sp>
        <p:nvSpPr>
          <p:cNvPr id="5" name="TextBox 4"/>
          <p:cNvSpPr txBox="1"/>
          <p:nvPr/>
        </p:nvSpPr>
        <p:spPr>
          <a:xfrm>
            <a:off x="640080" y="3568177"/>
            <a:ext cx="3566160" cy="274320"/>
          </a:xfrm>
          <a:prstGeom prst="rect">
            <a:avLst/>
          </a:prstGeom>
          <a:noFill/>
        </p:spPr>
        <p:txBody>
          <a:bodyPr wrap="square">
            <a:spAutoFit/>
          </a:bodyPr>
          <a:lstStyle/>
          <a:p>
            <a:pPr algn="ctr"/>
            <a:r>
              <a:rPr sz="1100" b="1" dirty="0" err="1">
                <a:solidFill>
                  <a:srgbClr val="505064"/>
                </a:solidFill>
              </a:rPr>
              <a:t>工作台首页</a:t>
            </a:r>
            <a:r>
              <a:rPr sz="1100" b="1" dirty="0">
                <a:solidFill>
                  <a:srgbClr val="505064"/>
                </a:solidFill>
              </a:rPr>
              <a:t> · </a:t>
            </a:r>
            <a:r>
              <a:rPr sz="1100" b="1" dirty="0" err="1">
                <a:solidFill>
                  <a:srgbClr val="505064"/>
                </a:solidFill>
              </a:rPr>
              <a:t>数据源与功能入口</a:t>
            </a:r>
            <a:endParaRPr sz="1100" b="1" dirty="0">
              <a:solidFill>
                <a:srgbClr val="505064"/>
              </a:solidFill>
            </a:endParaRPr>
          </a:p>
        </p:txBody>
      </p:sp>
      <p:sp>
        <p:nvSpPr>
          <p:cNvPr id="7" name="TextBox 6"/>
          <p:cNvSpPr txBox="1"/>
          <p:nvPr/>
        </p:nvSpPr>
        <p:spPr>
          <a:xfrm>
            <a:off x="4434840" y="3579448"/>
            <a:ext cx="3566160" cy="274320"/>
          </a:xfrm>
          <a:prstGeom prst="rect">
            <a:avLst/>
          </a:prstGeom>
          <a:noFill/>
        </p:spPr>
        <p:txBody>
          <a:bodyPr wrap="square">
            <a:spAutoFit/>
          </a:bodyPr>
          <a:lstStyle/>
          <a:p>
            <a:pPr algn="ctr"/>
            <a:r>
              <a:rPr sz="1100" b="1" dirty="0">
                <a:solidFill>
                  <a:srgbClr val="505064"/>
                </a:solidFill>
              </a:rPr>
              <a:t>AI </a:t>
            </a:r>
            <a:r>
              <a:rPr sz="1100" b="1" dirty="0" err="1">
                <a:solidFill>
                  <a:srgbClr val="505064"/>
                </a:solidFill>
              </a:rPr>
              <a:t>对话</a:t>
            </a:r>
            <a:r>
              <a:rPr sz="1100" b="1" dirty="0">
                <a:solidFill>
                  <a:srgbClr val="505064"/>
                </a:solidFill>
              </a:rPr>
              <a:t> · </a:t>
            </a:r>
            <a:r>
              <a:rPr sz="1100" b="1" dirty="0" err="1">
                <a:solidFill>
                  <a:srgbClr val="505064"/>
                </a:solidFill>
              </a:rPr>
              <a:t>分阶段问数</a:t>
            </a:r>
            <a:endParaRPr sz="1100" b="1" dirty="0">
              <a:solidFill>
                <a:srgbClr val="505064"/>
              </a:solidFill>
            </a:endParaRPr>
          </a:p>
        </p:txBody>
      </p:sp>
      <p:sp>
        <p:nvSpPr>
          <p:cNvPr id="9" name="TextBox 8"/>
          <p:cNvSpPr txBox="1"/>
          <p:nvPr/>
        </p:nvSpPr>
        <p:spPr>
          <a:xfrm>
            <a:off x="8229600" y="3608258"/>
            <a:ext cx="3566160" cy="274320"/>
          </a:xfrm>
          <a:prstGeom prst="rect">
            <a:avLst/>
          </a:prstGeom>
          <a:noFill/>
        </p:spPr>
        <p:txBody>
          <a:bodyPr wrap="square">
            <a:spAutoFit/>
          </a:bodyPr>
          <a:lstStyle/>
          <a:p>
            <a:pPr algn="ctr"/>
            <a:r>
              <a:rPr sz="1100" b="1">
                <a:solidFill>
                  <a:srgbClr val="505064"/>
                </a:solidFill>
              </a:rPr>
              <a:t>企业 BI 问数 · 风神接入</a:t>
            </a:r>
          </a:p>
        </p:txBody>
      </p:sp>
      <p:sp>
        <p:nvSpPr>
          <p:cNvPr id="11" name="TextBox 10"/>
          <p:cNvSpPr txBox="1"/>
          <p:nvPr/>
        </p:nvSpPr>
        <p:spPr>
          <a:xfrm>
            <a:off x="538007" y="6351575"/>
            <a:ext cx="3566160" cy="274320"/>
          </a:xfrm>
          <a:prstGeom prst="rect">
            <a:avLst/>
          </a:prstGeom>
          <a:noFill/>
        </p:spPr>
        <p:txBody>
          <a:bodyPr wrap="square">
            <a:spAutoFit/>
          </a:bodyPr>
          <a:lstStyle/>
          <a:p>
            <a:pPr algn="ctr"/>
            <a:r>
              <a:rPr sz="1100" b="1" dirty="0" err="1">
                <a:solidFill>
                  <a:srgbClr val="505064"/>
                </a:solidFill>
              </a:rPr>
              <a:t>指标词典</a:t>
            </a:r>
            <a:r>
              <a:rPr sz="1100" b="1" dirty="0">
                <a:solidFill>
                  <a:srgbClr val="505064"/>
                </a:solidFill>
              </a:rPr>
              <a:t> · </a:t>
            </a:r>
            <a:r>
              <a:rPr sz="1100" b="1" dirty="0" err="1">
                <a:solidFill>
                  <a:srgbClr val="505064"/>
                </a:solidFill>
              </a:rPr>
              <a:t>语义知识库</a:t>
            </a:r>
            <a:endParaRPr sz="1100" b="1" dirty="0">
              <a:solidFill>
                <a:srgbClr val="505064"/>
              </a:solidFill>
            </a:endParaRPr>
          </a:p>
        </p:txBody>
      </p:sp>
      <p:sp>
        <p:nvSpPr>
          <p:cNvPr id="13" name="TextBox 12"/>
          <p:cNvSpPr txBox="1"/>
          <p:nvPr/>
        </p:nvSpPr>
        <p:spPr>
          <a:xfrm>
            <a:off x="4328159" y="6383297"/>
            <a:ext cx="3566160" cy="274320"/>
          </a:xfrm>
          <a:prstGeom prst="rect">
            <a:avLst/>
          </a:prstGeom>
          <a:noFill/>
        </p:spPr>
        <p:txBody>
          <a:bodyPr wrap="square">
            <a:spAutoFit/>
          </a:bodyPr>
          <a:lstStyle/>
          <a:p>
            <a:pPr algn="ctr"/>
            <a:r>
              <a:rPr sz="1100" b="1" dirty="0" err="1">
                <a:solidFill>
                  <a:srgbClr val="505064"/>
                </a:solidFill>
              </a:rPr>
              <a:t>语义层管理</a:t>
            </a:r>
            <a:r>
              <a:rPr sz="1100" b="1" dirty="0">
                <a:solidFill>
                  <a:srgbClr val="505064"/>
                </a:solidFill>
              </a:rPr>
              <a:t> · </a:t>
            </a:r>
            <a:r>
              <a:rPr sz="1100" b="1" dirty="0" err="1">
                <a:solidFill>
                  <a:srgbClr val="505064"/>
                </a:solidFill>
              </a:rPr>
              <a:t>规则维护</a:t>
            </a:r>
            <a:endParaRPr sz="1100" b="1" dirty="0">
              <a:solidFill>
                <a:srgbClr val="505064"/>
              </a:solidFill>
            </a:endParaRPr>
          </a:p>
        </p:txBody>
      </p:sp>
      <p:sp>
        <p:nvSpPr>
          <p:cNvPr id="15" name="TextBox 14"/>
          <p:cNvSpPr txBox="1"/>
          <p:nvPr/>
        </p:nvSpPr>
        <p:spPr>
          <a:xfrm>
            <a:off x="8229600" y="6327648"/>
            <a:ext cx="3566160" cy="274320"/>
          </a:xfrm>
          <a:prstGeom prst="rect">
            <a:avLst/>
          </a:prstGeom>
          <a:noFill/>
        </p:spPr>
        <p:txBody>
          <a:bodyPr wrap="square">
            <a:spAutoFit/>
          </a:bodyPr>
          <a:lstStyle/>
          <a:p>
            <a:pPr algn="ctr"/>
            <a:r>
              <a:rPr sz="1100" b="1" dirty="0" err="1">
                <a:solidFill>
                  <a:srgbClr val="505064"/>
                </a:solidFill>
              </a:rPr>
              <a:t>实验评测</a:t>
            </a:r>
            <a:r>
              <a:rPr sz="1100" b="1" dirty="0">
                <a:solidFill>
                  <a:srgbClr val="505064"/>
                </a:solidFill>
              </a:rPr>
              <a:t> · 25 </a:t>
            </a:r>
            <a:r>
              <a:rPr sz="1100" b="1" dirty="0" err="1">
                <a:solidFill>
                  <a:srgbClr val="505064"/>
                </a:solidFill>
              </a:rPr>
              <a:t>题对照</a:t>
            </a:r>
            <a:endParaRPr sz="1100" b="1" dirty="0">
              <a:solidFill>
                <a:srgbClr val="505064"/>
              </a:solidFill>
            </a:endParaRPr>
          </a:p>
        </p:txBody>
      </p:sp>
      <p:sp>
        <p:nvSpPr>
          <p:cNvPr id="16" name="TextBox 15"/>
          <p:cNvSpPr txBox="1"/>
          <p:nvPr/>
        </p:nvSpPr>
        <p:spPr>
          <a:xfrm>
            <a:off x="94530" y="6551155"/>
            <a:ext cx="10972800" cy="274320"/>
          </a:xfrm>
          <a:prstGeom prst="rect">
            <a:avLst/>
          </a:prstGeom>
          <a:noFill/>
        </p:spPr>
        <p:txBody>
          <a:bodyPr wrap="square">
            <a:spAutoFit/>
          </a:bodyPr>
          <a:lstStyle/>
          <a:p>
            <a:pPr algn="l"/>
            <a:r>
              <a:rPr sz="1000" b="0" dirty="0">
                <a:solidFill>
                  <a:srgbClr val="A0A0AA"/>
                </a:solidFill>
              </a:rPr>
              <a:t>04+ / </a:t>
            </a:r>
            <a:r>
              <a:rPr sz="1000" b="0" dirty="0" err="1">
                <a:solidFill>
                  <a:srgbClr val="A0A0AA"/>
                </a:solidFill>
              </a:rPr>
              <a:t>原型系统实现</a:t>
            </a:r>
            <a:endParaRPr sz="1000" b="0" dirty="0">
              <a:solidFill>
                <a:srgbClr val="A0A0AA"/>
              </a:solidFill>
            </a:endParaRPr>
          </a:p>
        </p:txBody>
      </p:sp>
      <p:pic>
        <p:nvPicPr>
          <p:cNvPr id="17" name="图片 16">
            <a:extLst>
              <a:ext uri="{FF2B5EF4-FFF2-40B4-BE49-F238E27FC236}">
                <a16:creationId xmlns:a16="http://schemas.microsoft.com/office/drawing/2014/main" id="{000338CB-8BA8-F044-DDE9-55B6FAA863F9}"/>
              </a:ext>
            </a:extLst>
          </p:cNvPr>
          <p:cNvPicPr>
            <a:picLocks noChangeAspect="1"/>
          </p:cNvPicPr>
          <p:nvPr/>
        </p:nvPicPr>
        <p:blipFill>
          <a:blip r:embed="rId3"/>
          <a:stretch>
            <a:fillRect/>
          </a:stretch>
        </p:blipFill>
        <p:spPr>
          <a:xfrm>
            <a:off x="271131" y="1242195"/>
            <a:ext cx="3833037" cy="2290179"/>
          </a:xfrm>
          <a:prstGeom prst="rect">
            <a:avLst/>
          </a:prstGeom>
        </p:spPr>
      </p:pic>
      <p:pic>
        <p:nvPicPr>
          <p:cNvPr id="18" name="图片 17">
            <a:extLst>
              <a:ext uri="{FF2B5EF4-FFF2-40B4-BE49-F238E27FC236}">
                <a16:creationId xmlns:a16="http://schemas.microsoft.com/office/drawing/2014/main" id="{14A7DD8E-9E2A-AE32-98BB-42524C46855F}"/>
              </a:ext>
            </a:extLst>
          </p:cNvPr>
          <p:cNvPicPr>
            <a:picLocks noChangeAspect="1"/>
          </p:cNvPicPr>
          <p:nvPr/>
        </p:nvPicPr>
        <p:blipFill>
          <a:blip r:embed="rId4"/>
          <a:stretch>
            <a:fillRect/>
          </a:stretch>
        </p:blipFill>
        <p:spPr>
          <a:xfrm>
            <a:off x="4312920" y="1232119"/>
            <a:ext cx="3492950" cy="2288101"/>
          </a:xfrm>
          <a:prstGeom prst="rect">
            <a:avLst/>
          </a:prstGeom>
        </p:spPr>
      </p:pic>
      <p:pic>
        <p:nvPicPr>
          <p:cNvPr id="19" name="图片 18">
            <a:extLst>
              <a:ext uri="{FF2B5EF4-FFF2-40B4-BE49-F238E27FC236}">
                <a16:creationId xmlns:a16="http://schemas.microsoft.com/office/drawing/2014/main" id="{DC6D1B69-696D-2BC5-D79A-BA5C20B695A4}"/>
              </a:ext>
            </a:extLst>
          </p:cNvPr>
          <p:cNvPicPr>
            <a:picLocks noChangeAspect="1"/>
          </p:cNvPicPr>
          <p:nvPr/>
        </p:nvPicPr>
        <p:blipFill>
          <a:blip r:embed="rId5"/>
          <a:stretch>
            <a:fillRect/>
          </a:stretch>
        </p:blipFill>
        <p:spPr>
          <a:xfrm>
            <a:off x="7894319" y="1124850"/>
            <a:ext cx="3901441" cy="2376784"/>
          </a:xfrm>
          <a:prstGeom prst="rect">
            <a:avLst/>
          </a:prstGeom>
        </p:spPr>
      </p:pic>
      <p:pic>
        <p:nvPicPr>
          <p:cNvPr id="20" name="图片 19">
            <a:extLst>
              <a:ext uri="{FF2B5EF4-FFF2-40B4-BE49-F238E27FC236}">
                <a16:creationId xmlns:a16="http://schemas.microsoft.com/office/drawing/2014/main" id="{A38BA35F-7EE5-DC01-8280-8DFD9C472BE6}"/>
              </a:ext>
            </a:extLst>
          </p:cNvPr>
          <p:cNvPicPr>
            <a:picLocks noChangeAspect="1"/>
          </p:cNvPicPr>
          <p:nvPr/>
        </p:nvPicPr>
        <p:blipFill>
          <a:blip r:embed="rId6"/>
          <a:stretch>
            <a:fillRect/>
          </a:stretch>
        </p:blipFill>
        <p:spPr>
          <a:xfrm>
            <a:off x="271130" y="3813041"/>
            <a:ext cx="3833037" cy="2486567"/>
          </a:xfrm>
          <a:prstGeom prst="rect">
            <a:avLst/>
          </a:prstGeom>
        </p:spPr>
      </p:pic>
      <p:pic>
        <p:nvPicPr>
          <p:cNvPr id="21" name="图片 20">
            <a:extLst>
              <a:ext uri="{FF2B5EF4-FFF2-40B4-BE49-F238E27FC236}">
                <a16:creationId xmlns:a16="http://schemas.microsoft.com/office/drawing/2014/main" id="{AAE33C7B-E654-7BDD-B79D-E7FD4D6C2D67}"/>
              </a:ext>
            </a:extLst>
          </p:cNvPr>
          <p:cNvPicPr>
            <a:picLocks noChangeAspect="1"/>
          </p:cNvPicPr>
          <p:nvPr/>
        </p:nvPicPr>
        <p:blipFill>
          <a:blip r:embed="rId7"/>
          <a:stretch>
            <a:fillRect/>
          </a:stretch>
        </p:blipFill>
        <p:spPr>
          <a:xfrm>
            <a:off x="4171816" y="3912996"/>
            <a:ext cx="3848367" cy="2476996"/>
          </a:xfrm>
          <a:prstGeom prst="rect">
            <a:avLst/>
          </a:prstGeom>
        </p:spPr>
      </p:pic>
      <p:pic>
        <p:nvPicPr>
          <p:cNvPr id="22" name="图片 21">
            <a:extLst>
              <a:ext uri="{FF2B5EF4-FFF2-40B4-BE49-F238E27FC236}">
                <a16:creationId xmlns:a16="http://schemas.microsoft.com/office/drawing/2014/main" id="{342E7366-F570-3252-770A-9B8FB80A2F0A}"/>
              </a:ext>
            </a:extLst>
          </p:cNvPr>
          <p:cNvPicPr>
            <a:picLocks noChangeAspect="1"/>
          </p:cNvPicPr>
          <p:nvPr/>
        </p:nvPicPr>
        <p:blipFill>
          <a:blip r:embed="rId8"/>
          <a:stretch>
            <a:fillRect/>
          </a:stretch>
        </p:blipFill>
        <p:spPr>
          <a:xfrm>
            <a:off x="8020183" y="3941582"/>
            <a:ext cx="4041967" cy="235984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76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5A8E"/>
                </a:solidFill>
                <a:latin typeface="Noto Serif SC"/>
                <a:ea typeface="Noto Serif SC"/>
                <a:cs typeface="Noto Serif SC"/>
                <a:sym typeface="Noto Serif SC"/>
              </a:rPr>
              <a:t>05</a:t>
            </a:r>
            <a:endParaRPr lang="en-US" sz="1100"/>
          </a:p>
        </p:txBody>
      </p:sp>
      <p:sp>
        <p:nvSpPr>
          <p:cNvPr id="3" name="AutoShape 3"/>
          <p:cNvSpPr/>
          <p:nvPr/>
        </p:nvSpPr>
        <p:spPr>
          <a:xfrm>
            <a:off x="16510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A2E42"/>
                </a:solidFill>
                <a:latin typeface="Noto Serif SC"/>
                <a:ea typeface="Noto Serif SC"/>
                <a:cs typeface="Noto Serif SC"/>
                <a:sym typeface="Noto Serif SC"/>
              </a:rPr>
              <a:t>研究方法</a:t>
            </a:r>
            <a:endParaRPr lang="en-US" sz="1100"/>
          </a:p>
        </p:txBody>
      </p:sp>
      <p:cxnSp>
        <p:nvCxnSpPr>
          <p:cNvPr id="4" name="Connector 4"/>
          <p:cNvCxnSpPr/>
          <p:nvPr/>
        </p:nvCxnSpPr>
        <p:spPr>
          <a:xfrm rot="-4297">
            <a:off x="1016004" y="1073150"/>
            <a:ext cx="10160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5" name="AutoShape 5"/>
          <p:cNvSpPr/>
          <p:nvPr/>
        </p:nvSpPr>
        <p:spPr>
          <a:xfrm>
            <a:off x="1016000" y="1333500"/>
            <a:ext cx="1016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46464"/>
                </a:solidFill>
                <a:latin typeface="Noto Serif SC"/>
                <a:ea typeface="Noto Serif SC"/>
                <a:cs typeface="Noto Serif SC"/>
                <a:sym typeface="Noto Serif SC"/>
              </a:rPr>
              <a:t>以系统设计与实验研究为主，采用以下五种方法，形成"理论—建模—实现—验证—应用"完整闭环：</a:t>
            </a:r>
            <a:endParaRPr lang="en-US" sz="1100"/>
          </a:p>
        </p:txBody>
      </p:sp>
      <p:sp>
        <p:nvSpPr>
          <p:cNvPr id="6" name="AutoShape 6"/>
          <p:cNvSpPr/>
          <p:nvPr/>
        </p:nvSpPr>
        <p:spPr>
          <a:xfrm>
            <a:off x="1016000" y="1841500"/>
            <a:ext cx="2032000" cy="1968500"/>
          </a:xfrm>
          <a:prstGeom prst="roundRect">
            <a:avLst>
              <a:gd name="adj" fmla="val 0"/>
            </a:avLst>
          </a:prstGeom>
          <a:solidFill>
            <a:srgbClr val="1E5A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206500" y="2006600"/>
            <a:ext cx="1651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B4D2EB"/>
                </a:solidFill>
                <a:latin typeface="Noto Serif SC"/>
                <a:ea typeface="Noto Serif SC"/>
                <a:cs typeface="Noto Serif SC"/>
                <a:sym typeface="Noto Serif SC"/>
              </a:rPr>
              <a:t>METHOD 01</a:t>
            </a:r>
            <a:endParaRPr lang="en-US" sz="1100"/>
          </a:p>
        </p:txBody>
      </p:sp>
      <p:sp>
        <p:nvSpPr>
          <p:cNvPr id="8" name="AutoShape 8"/>
          <p:cNvSpPr/>
          <p:nvPr/>
        </p:nvSpPr>
        <p:spPr>
          <a:xfrm>
            <a:off x="1206500" y="2311400"/>
            <a:ext cx="165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erif SC"/>
                <a:ea typeface="Noto Serif SC"/>
                <a:cs typeface="Noto Serif SC"/>
                <a:sym typeface="Noto Serif SC"/>
              </a:rPr>
              <a:t>文献分析法</a:t>
            </a:r>
            <a:endParaRPr lang="en-US" sz="1100"/>
          </a:p>
        </p:txBody>
      </p:sp>
      <p:sp>
        <p:nvSpPr>
          <p:cNvPr id="9" name="AutoShape 9"/>
          <p:cNvSpPr/>
          <p:nvPr/>
        </p:nvSpPr>
        <p:spPr>
          <a:xfrm>
            <a:off x="1206500" y="2730500"/>
            <a:ext cx="1651000" cy="9525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C8DCF0"/>
                </a:solidFill>
                <a:latin typeface="Noto Serif SC"/>
                <a:ea typeface="Noto Serif SC"/>
                <a:cs typeface="Noto Serif SC"/>
                <a:sym typeface="Noto Serif SC"/>
              </a:rPr>
              <a:t>系统梳理Text-to-SQL、语义层、智能BI与Agent评测文献，提炼关键技术问题与研究空白。</a:t>
            </a:r>
            <a:endParaRPr lang="en-US" sz="1100"/>
          </a:p>
        </p:txBody>
      </p:sp>
      <p:sp>
        <p:nvSpPr>
          <p:cNvPr id="10" name="AutoShape 10"/>
          <p:cNvSpPr/>
          <p:nvPr/>
        </p:nvSpPr>
        <p:spPr>
          <a:xfrm>
            <a:off x="3251200" y="1841500"/>
            <a:ext cx="2032000" cy="1968500"/>
          </a:xfrm>
          <a:prstGeom prst="roundRect">
            <a:avLst>
              <a:gd name="adj" fmla="val 0"/>
            </a:avLst>
          </a:prstGeom>
          <a:solidFill>
            <a:srgbClr val="2D6E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3441700" y="2006600"/>
            <a:ext cx="1651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B4D2EB"/>
                </a:solidFill>
                <a:latin typeface="Noto Serif SC"/>
                <a:ea typeface="Noto Serif SC"/>
                <a:cs typeface="Noto Serif SC"/>
                <a:sym typeface="Noto Serif SC"/>
              </a:rPr>
              <a:t>METHOD 02</a:t>
            </a:r>
            <a:endParaRPr lang="en-US" sz="1100"/>
          </a:p>
        </p:txBody>
      </p:sp>
      <p:sp>
        <p:nvSpPr>
          <p:cNvPr id="12" name="AutoShape 12"/>
          <p:cNvSpPr/>
          <p:nvPr/>
        </p:nvSpPr>
        <p:spPr>
          <a:xfrm>
            <a:off x="3441700" y="2311400"/>
            <a:ext cx="165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erif SC"/>
                <a:ea typeface="Noto Serif SC"/>
                <a:cs typeface="Noto Serif SC"/>
                <a:sym typeface="Noto Serif SC"/>
              </a:rPr>
              <a:t>知识建模法</a:t>
            </a:r>
            <a:endParaRPr lang="en-US" sz="1100"/>
          </a:p>
        </p:txBody>
      </p:sp>
      <p:sp>
        <p:nvSpPr>
          <p:cNvPr id="13" name="AutoShape 13"/>
          <p:cNvSpPr/>
          <p:nvPr/>
        </p:nvSpPr>
        <p:spPr>
          <a:xfrm>
            <a:off x="3441700" y="2730500"/>
            <a:ext cx="1651000" cy="9525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C8DCF0"/>
                </a:solidFill>
                <a:latin typeface="Noto Serif SC"/>
                <a:ea typeface="Noto Serif SC"/>
                <a:cs typeface="Noto Serif SC"/>
                <a:sym typeface="Noto Serif SC"/>
              </a:rPr>
              <a:t>将经营指标、同义表达、维度约束与计算逻辑结构化表示为指标语义知识库，作为Agent业务约束基础。</a:t>
            </a:r>
            <a:endParaRPr lang="en-US" sz="1100"/>
          </a:p>
        </p:txBody>
      </p:sp>
      <p:sp>
        <p:nvSpPr>
          <p:cNvPr id="14" name="AutoShape 14"/>
          <p:cNvSpPr/>
          <p:nvPr/>
        </p:nvSpPr>
        <p:spPr>
          <a:xfrm>
            <a:off x="5486400" y="1841500"/>
            <a:ext cx="2032000" cy="1968500"/>
          </a:xfrm>
          <a:prstGeom prst="roundRect">
            <a:avLst>
              <a:gd name="adj" fmla="val 0"/>
            </a:avLst>
          </a:prstGeom>
          <a:solidFill>
            <a:srgbClr val="3C7DB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676900" y="2006600"/>
            <a:ext cx="1651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C8E1F5"/>
                </a:solidFill>
                <a:latin typeface="Noto Serif SC"/>
                <a:ea typeface="Noto Serif SC"/>
                <a:cs typeface="Noto Serif SC"/>
                <a:sym typeface="Noto Serif SC"/>
              </a:rPr>
              <a:t>METHOD 03</a:t>
            </a:r>
            <a:endParaRPr lang="en-US" sz="1100"/>
          </a:p>
        </p:txBody>
      </p:sp>
      <p:sp>
        <p:nvSpPr>
          <p:cNvPr id="16" name="AutoShape 16"/>
          <p:cNvSpPr/>
          <p:nvPr/>
        </p:nvSpPr>
        <p:spPr>
          <a:xfrm>
            <a:off x="5676900" y="2311400"/>
            <a:ext cx="165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erif SC"/>
                <a:ea typeface="Noto Serif SC"/>
                <a:cs typeface="Noto Serif SC"/>
                <a:sym typeface="Noto Serif SC"/>
              </a:rPr>
              <a:t>系统设计法</a:t>
            </a:r>
            <a:endParaRPr lang="en-US" sz="1100"/>
          </a:p>
        </p:txBody>
      </p:sp>
      <p:sp>
        <p:nvSpPr>
          <p:cNvPr id="17" name="AutoShape 17"/>
          <p:cNvSpPr/>
          <p:nvPr/>
        </p:nvSpPr>
        <p:spPr>
          <a:xfrm>
            <a:off x="5676900" y="2730500"/>
            <a:ext cx="1651000" cy="9525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D2E6F5"/>
                </a:solidFill>
                <a:latin typeface="Noto Serif SC"/>
                <a:ea typeface="Noto Serif SC"/>
                <a:cs typeface="Noto Serif SC"/>
                <a:sym typeface="Noto Serif SC"/>
              </a:rPr>
              <a:t>采用模块化方式实现Agent六大功能模块，构建从任务理解到洞察生成的完整系统原型。</a:t>
            </a:r>
            <a:endParaRPr lang="en-US" sz="1100"/>
          </a:p>
        </p:txBody>
      </p:sp>
      <p:sp>
        <p:nvSpPr>
          <p:cNvPr id="18" name="AutoShape 18"/>
          <p:cNvSpPr/>
          <p:nvPr/>
        </p:nvSpPr>
        <p:spPr>
          <a:xfrm>
            <a:off x="7721600" y="1841500"/>
            <a:ext cx="2032000" cy="1968500"/>
          </a:xfrm>
          <a:prstGeom prst="roundRect">
            <a:avLst>
              <a:gd name="adj" fmla="val 0"/>
            </a:avLst>
          </a:prstGeom>
          <a:solidFill>
            <a:srgbClr val="5091C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7912100" y="2006600"/>
            <a:ext cx="1651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D2E6F5"/>
                </a:solidFill>
                <a:latin typeface="Noto Serif SC"/>
                <a:ea typeface="Noto Serif SC"/>
                <a:cs typeface="Noto Serif SC"/>
                <a:sym typeface="Noto Serif SC"/>
              </a:rPr>
              <a:t>METHOD 04</a:t>
            </a:r>
            <a:endParaRPr lang="en-US" sz="1100"/>
          </a:p>
        </p:txBody>
      </p:sp>
      <p:sp>
        <p:nvSpPr>
          <p:cNvPr id="20" name="AutoShape 20"/>
          <p:cNvSpPr/>
          <p:nvPr/>
        </p:nvSpPr>
        <p:spPr>
          <a:xfrm>
            <a:off x="7912100" y="2311400"/>
            <a:ext cx="165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erif SC"/>
                <a:ea typeface="Noto Serif SC"/>
                <a:cs typeface="Noto Serif SC"/>
                <a:sym typeface="Noto Serif SC"/>
              </a:rPr>
              <a:t>对比实验法</a:t>
            </a:r>
            <a:endParaRPr lang="en-US" sz="1100"/>
          </a:p>
        </p:txBody>
      </p:sp>
      <p:sp>
        <p:nvSpPr>
          <p:cNvPr id="21" name="AutoShape 21"/>
          <p:cNvSpPr/>
          <p:nvPr/>
        </p:nvSpPr>
        <p:spPr>
          <a:xfrm>
            <a:off x="7912100" y="2730500"/>
            <a:ext cx="1651000" cy="9525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DCEBFA"/>
                </a:solidFill>
                <a:latin typeface="Noto Serif SC"/>
                <a:ea typeface="Noto Serif SC"/>
                <a:cs typeface="Noto Serif SC"/>
                <a:sym typeface="Noto Serif SC"/>
              </a:rPr>
              <a:t>设置不带语义约束的基线系统，与带约束Agent对比，分析各模块对系统整体性能的贡献。</a:t>
            </a:r>
            <a:endParaRPr lang="en-US" sz="1100"/>
          </a:p>
        </p:txBody>
      </p:sp>
      <p:sp>
        <p:nvSpPr>
          <p:cNvPr id="22" name="AutoShape 22"/>
          <p:cNvSpPr/>
          <p:nvPr/>
        </p:nvSpPr>
        <p:spPr>
          <a:xfrm>
            <a:off x="9956800" y="1841500"/>
            <a:ext cx="1219200" cy="1968500"/>
          </a:xfrm>
          <a:prstGeom prst="roundRect">
            <a:avLst>
              <a:gd name="adj" fmla="val 0"/>
            </a:avLst>
          </a:prstGeom>
          <a:solidFill>
            <a:srgbClr val="64A0C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083800" y="2006600"/>
            <a:ext cx="9652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DCEBFA"/>
                </a:solidFill>
                <a:latin typeface="Noto Serif SC"/>
                <a:ea typeface="Noto Serif SC"/>
                <a:cs typeface="Noto Serif SC"/>
                <a:sym typeface="Noto Serif SC"/>
              </a:rPr>
              <a:t>M05</a:t>
            </a:r>
            <a:endParaRPr lang="en-US" sz="1100"/>
          </a:p>
        </p:txBody>
      </p:sp>
      <p:sp>
        <p:nvSpPr>
          <p:cNvPr id="24" name="AutoShape 24"/>
          <p:cNvSpPr/>
          <p:nvPr/>
        </p:nvSpPr>
        <p:spPr>
          <a:xfrm>
            <a:off x="10083800" y="2311400"/>
            <a:ext cx="965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FFFFF"/>
                </a:solidFill>
                <a:latin typeface="Noto Serif SC"/>
                <a:ea typeface="Noto Serif SC"/>
                <a:cs typeface="Noto Serif SC"/>
                <a:sym typeface="Noto Serif SC"/>
              </a:rPr>
              <a:t>案例验证法</a:t>
            </a:r>
            <a:endParaRPr lang="en-US" sz="1100"/>
          </a:p>
        </p:txBody>
      </p:sp>
      <p:sp>
        <p:nvSpPr>
          <p:cNvPr id="25" name="AutoShape 25"/>
          <p:cNvSpPr/>
          <p:nvPr/>
        </p:nvSpPr>
        <p:spPr>
          <a:xfrm>
            <a:off x="10083800" y="2730500"/>
            <a:ext cx="965200" cy="9525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000" b="0" i="0" u="none" strike="noStrike">
                <a:solidFill>
                  <a:srgbClr val="E6F0FA"/>
                </a:solidFill>
                <a:latin typeface="Noto Serif SC"/>
                <a:ea typeface="Noto Serif SC"/>
                <a:cs typeface="Noto Serif SC"/>
                <a:sym typeface="Noto Serif SC"/>
              </a:rPr>
              <a:t>选取销售趋势、客户分层等典型问题进行案例展示。</a:t>
            </a:r>
            <a:endParaRPr lang="en-US" sz="1100"/>
          </a:p>
        </p:txBody>
      </p:sp>
      <p:cxnSp>
        <p:nvCxnSpPr>
          <p:cNvPr id="26" name="Connector 26"/>
          <p:cNvCxnSpPr/>
          <p:nvPr/>
        </p:nvCxnSpPr>
        <p:spPr>
          <a:xfrm rot="-4297">
            <a:off x="1016004" y="4121150"/>
            <a:ext cx="10160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27" name="AutoShape 27"/>
          <p:cNvSpPr/>
          <p:nvPr/>
        </p:nvSpPr>
        <p:spPr>
          <a:xfrm>
            <a:off x="1016000" y="4318000"/>
            <a:ext cx="1016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A2E42"/>
                </a:solidFill>
                <a:latin typeface="Noto Serif SC"/>
                <a:ea typeface="Noto Serif SC"/>
                <a:cs typeface="Noto Serif SC"/>
                <a:sym typeface="Noto Serif SC"/>
              </a:rPr>
              <a:t>方法协同关系</a:t>
            </a:r>
            <a:endParaRPr lang="en-US" sz="1100"/>
          </a:p>
        </p:txBody>
      </p:sp>
      <p:sp>
        <p:nvSpPr>
          <p:cNvPr id="28" name="AutoShape 28"/>
          <p:cNvSpPr/>
          <p:nvPr/>
        </p:nvSpPr>
        <p:spPr>
          <a:xfrm>
            <a:off x="1016000" y="4724400"/>
            <a:ext cx="10160000" cy="1270000"/>
          </a:xfrm>
          <a:prstGeom prst="rect">
            <a:avLst/>
          </a:prstGeom>
          <a:noFill/>
          <a:ln w="12700" cap="flat" cmpd="sng">
            <a:noFill/>
            <a:prstDash val="solid"/>
            <a:round/>
          </a:ln>
        </p:spPr>
        <p:txBody>
          <a:bodyPr vert="horz" wrap="square" lIns="0" tIns="0" rIns="0" bIns="0" rtlCol="0" anchor="t" anchorCtr="0"/>
          <a:lstStyle/>
          <a:p>
            <a:pPr marL="0" indent="0" algn="l">
              <a:lnSpc>
                <a:spcPct val="141666"/>
              </a:lnSpc>
              <a:defRPr/>
            </a:pPr>
            <a:r>
              <a:rPr lang="en-US" sz="1300" b="0" i="0" u="none" strike="noStrike">
                <a:solidFill>
                  <a:srgbClr val="505050"/>
                </a:solidFill>
                <a:latin typeface="Noto Serif SC"/>
                <a:ea typeface="Noto Serif SC"/>
                <a:cs typeface="Noto Serif SC"/>
                <a:sym typeface="Noto Serif SC"/>
              </a:rPr>
              <a:t>文献分析法奠定理论基础 → 知识建模法构建语义约束核心 → 系统设计法实现Agent原型 → 对比实验法验证方法有效性 → 案例验证法展示实际应用价值。五种方法层层递进、相互支撑，形成完整的研究方法论体系。</a:t>
            </a:r>
            <a:endParaRPr lang="en-US" sz="1100"/>
          </a:p>
        </p:txBody>
      </p:sp>
      <p:sp>
        <p:nvSpPr>
          <p:cNvPr id="29" name="AutoShape 29"/>
          <p:cNvSpPr/>
          <p:nvPr/>
        </p:nvSpPr>
        <p:spPr>
          <a:xfrm>
            <a:off x="1016000" y="6286500"/>
            <a:ext cx="10160000" cy="3175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888888"/>
                </a:solidFill>
                <a:latin typeface="Noto Serif SC"/>
                <a:ea typeface="Noto Serif SC"/>
                <a:cs typeface="Noto Serif SC"/>
                <a:sym typeface="Noto Serif SC"/>
              </a:rPr>
              <a:t>05 / 研究方法</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E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76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5A8E"/>
                </a:solidFill>
                <a:latin typeface="Noto Serif SC"/>
                <a:ea typeface="Noto Serif SC"/>
                <a:cs typeface="Noto Serif SC"/>
                <a:sym typeface="Noto Serif SC"/>
              </a:rPr>
              <a:t>06</a:t>
            </a:r>
            <a:endParaRPr lang="en-US" sz="1100"/>
          </a:p>
        </p:txBody>
      </p:sp>
      <p:sp>
        <p:nvSpPr>
          <p:cNvPr id="3" name="AutoShape 3"/>
          <p:cNvSpPr/>
          <p:nvPr/>
        </p:nvSpPr>
        <p:spPr>
          <a:xfrm>
            <a:off x="1651000" y="508000"/>
            <a:ext cx="635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A2E42"/>
                </a:solidFill>
                <a:latin typeface="Noto Serif SC"/>
                <a:ea typeface="Noto Serif SC"/>
                <a:cs typeface="Noto Serif SC"/>
                <a:sym typeface="Noto Serif SC"/>
              </a:rPr>
              <a:t>系统总体架构设计</a:t>
            </a:r>
            <a:endParaRPr lang="en-US" sz="1100"/>
          </a:p>
        </p:txBody>
      </p:sp>
      <p:cxnSp>
        <p:nvCxnSpPr>
          <p:cNvPr id="4" name="Connector 4"/>
          <p:cNvCxnSpPr/>
          <p:nvPr/>
        </p:nvCxnSpPr>
        <p:spPr>
          <a:xfrm rot="-4297">
            <a:off x="1016004" y="1073150"/>
            <a:ext cx="10160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5" name="AutoShape 5"/>
          <p:cNvSpPr/>
          <p:nvPr/>
        </p:nvSpPr>
        <p:spPr>
          <a:xfrm>
            <a:off x="1016000" y="1270000"/>
            <a:ext cx="1016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46464"/>
                </a:solidFill>
                <a:latin typeface="Noto Serif SC"/>
                <a:ea typeface="Noto Serif SC"/>
                <a:cs typeface="Noto Serif SC"/>
                <a:sym typeface="Noto Serif SC"/>
              </a:rPr>
              <a:t>Agent采用流水线式六模块架构，以指标语义知识库为核心约束，贯穿从问题理解到洞察生成的全流程：</a:t>
            </a:r>
            <a:endParaRPr lang="en-US" sz="1100"/>
          </a:p>
        </p:txBody>
      </p:sp>
      <p:sp>
        <p:nvSpPr>
          <p:cNvPr id="6" name="AutoShape 6"/>
          <p:cNvSpPr/>
          <p:nvPr/>
        </p:nvSpPr>
        <p:spPr>
          <a:xfrm>
            <a:off x="1016000" y="1841500"/>
            <a:ext cx="1587500" cy="1016000"/>
          </a:xfrm>
          <a:prstGeom prst="roundRect">
            <a:avLst>
              <a:gd name="adj" fmla="val 0"/>
            </a:avLst>
          </a:prstGeom>
          <a:solidFill>
            <a:srgbClr val="1E5A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79500" y="1905000"/>
            <a:ext cx="14605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B4D2EB"/>
                </a:solidFill>
                <a:latin typeface="Noto Serif SC"/>
                <a:ea typeface="Noto Serif SC"/>
                <a:cs typeface="Noto Serif SC"/>
                <a:sym typeface="Noto Serif SC"/>
              </a:rPr>
              <a:t>MODULE 01</a:t>
            </a:r>
            <a:endParaRPr lang="en-US" sz="1100"/>
          </a:p>
        </p:txBody>
      </p:sp>
      <p:sp>
        <p:nvSpPr>
          <p:cNvPr id="8" name="AutoShape 8"/>
          <p:cNvSpPr/>
          <p:nvPr/>
        </p:nvSpPr>
        <p:spPr>
          <a:xfrm>
            <a:off x="1079500" y="2159000"/>
            <a:ext cx="14605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erif SC"/>
                <a:ea typeface="Noto Serif SC"/>
                <a:cs typeface="Noto Serif SC"/>
                <a:sym typeface="Noto Serif SC"/>
              </a:rPr>
              <a:t>任务理解</a:t>
            </a:r>
            <a:endParaRPr lang="en-US" sz="1100"/>
          </a:p>
        </p:txBody>
      </p:sp>
      <p:sp>
        <p:nvSpPr>
          <p:cNvPr id="9" name="AutoShape 9"/>
          <p:cNvSpPr/>
          <p:nvPr/>
        </p:nvSpPr>
        <p:spPr>
          <a:xfrm>
            <a:off x="1079500" y="2476500"/>
            <a:ext cx="14605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C8DCF0"/>
                </a:solidFill>
                <a:latin typeface="Noto Serif SC"/>
                <a:ea typeface="Noto Serif SC"/>
                <a:cs typeface="Noto Serif SC"/>
                <a:sym typeface="Noto Serif SC"/>
              </a:rPr>
              <a:t>解析自然语言问题</a:t>
            </a:r>
            <a:endParaRPr lang="en-US" sz="1100"/>
          </a:p>
        </p:txBody>
      </p:sp>
      <p:cxnSp>
        <p:nvCxnSpPr>
          <p:cNvPr id="10" name="Connector 10"/>
          <p:cNvCxnSpPr/>
          <p:nvPr/>
        </p:nvCxnSpPr>
        <p:spPr>
          <a:xfrm rot="-114549">
            <a:off x="2667106" y="2343150"/>
            <a:ext cx="381000" cy="12700"/>
          </a:xfrm>
          <a:prstGeom prst="straightConnector1">
            <a:avLst/>
          </a:prstGeom>
          <a:solidFill>
            <a:srgbClr val="DEE0E3">
              <a:alpha val="100000"/>
            </a:srgbClr>
          </a:solidFill>
          <a:ln w="25400" cap="flat" cmpd="sng">
            <a:solidFill>
              <a:srgbClr val="1E5A8E">
                <a:alpha val="100000"/>
              </a:srgbClr>
            </a:solidFill>
            <a:prstDash val="solid"/>
            <a:round/>
            <a:headEnd type="none" w="lg" len="lg"/>
            <a:tailEnd type="arrow" w="lg" len="lg"/>
          </a:ln>
        </p:spPr>
      </p:cxnSp>
      <p:sp>
        <p:nvSpPr>
          <p:cNvPr id="11" name="AutoShape 11"/>
          <p:cNvSpPr/>
          <p:nvPr/>
        </p:nvSpPr>
        <p:spPr>
          <a:xfrm>
            <a:off x="3111500" y="1841500"/>
            <a:ext cx="1587500" cy="1016000"/>
          </a:xfrm>
          <a:prstGeom prst="roundRect">
            <a:avLst>
              <a:gd name="adj" fmla="val 0"/>
            </a:avLst>
          </a:prstGeom>
          <a:solidFill>
            <a:srgbClr val="2D6E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3175000" y="1905000"/>
            <a:ext cx="14605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B4D2EB"/>
                </a:solidFill>
                <a:latin typeface="Noto Serif SC"/>
                <a:ea typeface="Noto Serif SC"/>
                <a:cs typeface="Noto Serif SC"/>
                <a:sym typeface="Noto Serif SC"/>
              </a:rPr>
              <a:t>MODULE 02</a:t>
            </a:r>
            <a:endParaRPr lang="en-US" sz="1100"/>
          </a:p>
        </p:txBody>
      </p:sp>
      <p:sp>
        <p:nvSpPr>
          <p:cNvPr id="13" name="AutoShape 13"/>
          <p:cNvSpPr/>
          <p:nvPr/>
        </p:nvSpPr>
        <p:spPr>
          <a:xfrm>
            <a:off x="3175000" y="2159000"/>
            <a:ext cx="14605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erif SC"/>
                <a:ea typeface="Noto Serif SC"/>
                <a:cs typeface="Noto Serif SC"/>
                <a:sym typeface="Noto Serif SC"/>
              </a:rPr>
              <a:t>语义匹配</a:t>
            </a:r>
            <a:endParaRPr lang="en-US" sz="1100"/>
          </a:p>
        </p:txBody>
      </p:sp>
      <p:sp>
        <p:nvSpPr>
          <p:cNvPr id="14" name="AutoShape 14"/>
          <p:cNvSpPr/>
          <p:nvPr/>
        </p:nvSpPr>
        <p:spPr>
          <a:xfrm>
            <a:off x="3175000" y="2476500"/>
            <a:ext cx="14605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C8DCF0"/>
                </a:solidFill>
                <a:latin typeface="Noto Serif SC"/>
                <a:ea typeface="Noto Serif SC"/>
                <a:cs typeface="Noto Serif SC"/>
                <a:sym typeface="Noto Serif SC"/>
              </a:rPr>
              <a:t>映射标准指标定义</a:t>
            </a:r>
            <a:endParaRPr lang="en-US" sz="1100"/>
          </a:p>
        </p:txBody>
      </p:sp>
      <p:cxnSp>
        <p:nvCxnSpPr>
          <p:cNvPr id="15" name="Connector 15"/>
          <p:cNvCxnSpPr/>
          <p:nvPr/>
        </p:nvCxnSpPr>
        <p:spPr>
          <a:xfrm rot="-114549">
            <a:off x="4762606" y="2343150"/>
            <a:ext cx="381000" cy="12700"/>
          </a:xfrm>
          <a:prstGeom prst="straightConnector1">
            <a:avLst/>
          </a:prstGeom>
          <a:solidFill>
            <a:srgbClr val="DEE0E3">
              <a:alpha val="100000"/>
            </a:srgbClr>
          </a:solidFill>
          <a:ln w="25400" cap="flat" cmpd="sng">
            <a:solidFill>
              <a:srgbClr val="1E5A8E">
                <a:alpha val="100000"/>
              </a:srgbClr>
            </a:solidFill>
            <a:prstDash val="solid"/>
            <a:round/>
            <a:headEnd type="none" w="lg" len="lg"/>
            <a:tailEnd type="arrow" w="lg" len="lg"/>
          </a:ln>
        </p:spPr>
      </p:cxnSp>
      <p:sp>
        <p:nvSpPr>
          <p:cNvPr id="16" name="AutoShape 16"/>
          <p:cNvSpPr/>
          <p:nvPr/>
        </p:nvSpPr>
        <p:spPr>
          <a:xfrm>
            <a:off x="5207000" y="1841500"/>
            <a:ext cx="1587500" cy="1016000"/>
          </a:xfrm>
          <a:prstGeom prst="roundRect">
            <a:avLst>
              <a:gd name="adj" fmla="val 0"/>
            </a:avLst>
          </a:prstGeom>
          <a:solidFill>
            <a:srgbClr val="3C7DB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5270500" y="1905000"/>
            <a:ext cx="14605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C8E1F5"/>
                </a:solidFill>
                <a:latin typeface="Noto Serif SC"/>
                <a:ea typeface="Noto Serif SC"/>
                <a:cs typeface="Noto Serif SC"/>
                <a:sym typeface="Noto Serif SC"/>
              </a:rPr>
              <a:t>MODULE 03</a:t>
            </a:r>
            <a:endParaRPr lang="en-US" sz="1100"/>
          </a:p>
        </p:txBody>
      </p:sp>
      <p:sp>
        <p:nvSpPr>
          <p:cNvPr id="18" name="AutoShape 18"/>
          <p:cNvSpPr/>
          <p:nvPr/>
        </p:nvSpPr>
        <p:spPr>
          <a:xfrm>
            <a:off x="5270500" y="2159000"/>
            <a:ext cx="14605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erif SC"/>
                <a:ea typeface="Noto Serif SC"/>
                <a:cs typeface="Noto Serif SC"/>
                <a:sym typeface="Noto Serif SC"/>
              </a:rPr>
              <a:t>执行规划</a:t>
            </a:r>
            <a:endParaRPr lang="en-US" sz="1100"/>
          </a:p>
        </p:txBody>
      </p:sp>
      <p:sp>
        <p:nvSpPr>
          <p:cNvPr id="19" name="AutoShape 19"/>
          <p:cNvSpPr/>
          <p:nvPr/>
        </p:nvSpPr>
        <p:spPr>
          <a:xfrm>
            <a:off x="5270500" y="2476500"/>
            <a:ext cx="14605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D2E6F5"/>
                </a:solidFill>
                <a:latin typeface="Noto Serif SC"/>
                <a:ea typeface="Noto Serif SC"/>
                <a:cs typeface="Noto Serif SC"/>
                <a:sym typeface="Noto Serif SC"/>
              </a:rPr>
              <a:t>生成查询执行计划</a:t>
            </a:r>
            <a:endParaRPr lang="en-US" sz="1100"/>
          </a:p>
        </p:txBody>
      </p:sp>
      <p:cxnSp>
        <p:nvCxnSpPr>
          <p:cNvPr id="20" name="Connector 20"/>
          <p:cNvCxnSpPr/>
          <p:nvPr/>
        </p:nvCxnSpPr>
        <p:spPr>
          <a:xfrm rot="-114549">
            <a:off x="6858106" y="2343150"/>
            <a:ext cx="381000" cy="12700"/>
          </a:xfrm>
          <a:prstGeom prst="straightConnector1">
            <a:avLst/>
          </a:prstGeom>
          <a:solidFill>
            <a:srgbClr val="DEE0E3">
              <a:alpha val="100000"/>
            </a:srgbClr>
          </a:solidFill>
          <a:ln w="25400" cap="flat" cmpd="sng">
            <a:solidFill>
              <a:srgbClr val="1E5A8E">
                <a:alpha val="100000"/>
              </a:srgbClr>
            </a:solidFill>
            <a:prstDash val="solid"/>
            <a:round/>
            <a:headEnd type="none" w="lg" len="lg"/>
            <a:tailEnd type="arrow" w="lg" len="lg"/>
          </a:ln>
        </p:spPr>
      </p:cxnSp>
      <p:sp>
        <p:nvSpPr>
          <p:cNvPr id="21" name="AutoShape 21"/>
          <p:cNvSpPr/>
          <p:nvPr/>
        </p:nvSpPr>
        <p:spPr>
          <a:xfrm>
            <a:off x="7302500" y="1841500"/>
            <a:ext cx="1587500" cy="1016000"/>
          </a:xfrm>
          <a:prstGeom prst="roundRect">
            <a:avLst>
              <a:gd name="adj" fmla="val 0"/>
            </a:avLst>
          </a:prstGeom>
          <a:solidFill>
            <a:srgbClr val="5091C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7366000" y="1905000"/>
            <a:ext cx="14605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D2E6F5"/>
                </a:solidFill>
                <a:latin typeface="Noto Serif SC"/>
                <a:ea typeface="Noto Serif SC"/>
                <a:cs typeface="Noto Serif SC"/>
                <a:sym typeface="Noto Serif SC"/>
              </a:rPr>
              <a:t>MODULE 04</a:t>
            </a:r>
            <a:endParaRPr lang="en-US" sz="1100"/>
          </a:p>
        </p:txBody>
      </p:sp>
      <p:sp>
        <p:nvSpPr>
          <p:cNvPr id="23" name="AutoShape 23"/>
          <p:cNvSpPr/>
          <p:nvPr/>
        </p:nvSpPr>
        <p:spPr>
          <a:xfrm>
            <a:off x="7366000" y="2159000"/>
            <a:ext cx="14605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erif SC"/>
                <a:ea typeface="Noto Serif SC"/>
                <a:cs typeface="Noto Serif SC"/>
                <a:sym typeface="Noto Serif SC"/>
              </a:rPr>
              <a:t>查询生成</a:t>
            </a:r>
            <a:endParaRPr lang="en-US" sz="1100"/>
          </a:p>
        </p:txBody>
      </p:sp>
      <p:sp>
        <p:nvSpPr>
          <p:cNvPr id="24" name="AutoShape 24"/>
          <p:cNvSpPr/>
          <p:nvPr/>
        </p:nvSpPr>
        <p:spPr>
          <a:xfrm>
            <a:off x="7366000" y="2476500"/>
            <a:ext cx="14605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DCEBFA"/>
                </a:solidFill>
                <a:latin typeface="Noto Serif SC"/>
                <a:ea typeface="Noto Serif SC"/>
                <a:cs typeface="Noto Serif SC"/>
                <a:sym typeface="Noto Serif SC"/>
              </a:rPr>
              <a:t>语义约束下生成SQL</a:t>
            </a:r>
            <a:endParaRPr lang="en-US" sz="1100"/>
          </a:p>
        </p:txBody>
      </p:sp>
      <p:cxnSp>
        <p:nvCxnSpPr>
          <p:cNvPr id="25" name="Connector 25"/>
          <p:cNvCxnSpPr/>
          <p:nvPr/>
        </p:nvCxnSpPr>
        <p:spPr>
          <a:xfrm rot="-114549">
            <a:off x="8953606" y="2343150"/>
            <a:ext cx="381000" cy="12700"/>
          </a:xfrm>
          <a:prstGeom prst="straightConnector1">
            <a:avLst/>
          </a:prstGeom>
          <a:solidFill>
            <a:srgbClr val="DEE0E3">
              <a:alpha val="100000"/>
            </a:srgbClr>
          </a:solidFill>
          <a:ln w="25400" cap="flat" cmpd="sng">
            <a:solidFill>
              <a:srgbClr val="1E5A8E">
                <a:alpha val="100000"/>
              </a:srgbClr>
            </a:solidFill>
            <a:prstDash val="solid"/>
            <a:round/>
            <a:headEnd type="none" w="lg" len="lg"/>
            <a:tailEnd type="arrow" w="lg" len="lg"/>
          </a:ln>
        </p:spPr>
      </p:cxnSp>
      <p:sp>
        <p:nvSpPr>
          <p:cNvPr id="26" name="AutoShape 26"/>
          <p:cNvSpPr/>
          <p:nvPr/>
        </p:nvSpPr>
        <p:spPr>
          <a:xfrm>
            <a:off x="9398000" y="1841500"/>
            <a:ext cx="1778000" cy="1016000"/>
          </a:xfrm>
          <a:prstGeom prst="roundRect">
            <a:avLst>
              <a:gd name="adj" fmla="val 0"/>
            </a:avLst>
          </a:prstGeom>
          <a:solidFill>
            <a:srgbClr val="64A0C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9461500" y="1905000"/>
            <a:ext cx="1651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DCEBFA"/>
                </a:solidFill>
                <a:latin typeface="Noto Serif SC"/>
                <a:ea typeface="Noto Serif SC"/>
                <a:cs typeface="Noto Serif SC"/>
                <a:sym typeface="Noto Serif SC"/>
              </a:rPr>
              <a:t>MODULE 05-06</a:t>
            </a:r>
            <a:endParaRPr lang="en-US" sz="1100"/>
          </a:p>
        </p:txBody>
      </p:sp>
      <p:sp>
        <p:nvSpPr>
          <p:cNvPr id="28" name="AutoShape 28"/>
          <p:cNvSpPr/>
          <p:nvPr/>
        </p:nvSpPr>
        <p:spPr>
          <a:xfrm>
            <a:off x="9461500" y="2159000"/>
            <a:ext cx="1651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FFFFFF"/>
                </a:solidFill>
                <a:latin typeface="Noto Serif SC"/>
                <a:ea typeface="Noto Serif SC"/>
                <a:cs typeface="Noto Serif SC"/>
                <a:sym typeface="Noto Serif SC"/>
              </a:rPr>
              <a:t>校验与洞察</a:t>
            </a:r>
            <a:endParaRPr lang="en-US" sz="1100"/>
          </a:p>
        </p:txBody>
      </p:sp>
      <p:sp>
        <p:nvSpPr>
          <p:cNvPr id="29" name="AutoShape 29"/>
          <p:cNvSpPr/>
          <p:nvPr/>
        </p:nvSpPr>
        <p:spPr>
          <a:xfrm>
            <a:off x="9461500" y="2476500"/>
            <a:ext cx="1651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00" b="0" i="0" u="none" strike="noStrike">
                <a:solidFill>
                  <a:srgbClr val="E6F0FA"/>
                </a:solidFill>
                <a:latin typeface="Noto Serif SC"/>
                <a:ea typeface="Noto Serif SC"/>
                <a:cs typeface="Noto Serif SC"/>
                <a:sym typeface="Noto Serif SC"/>
              </a:rPr>
              <a:t>结果校验+洞察生成</a:t>
            </a:r>
            <a:endParaRPr lang="en-US" sz="1100"/>
          </a:p>
        </p:txBody>
      </p:sp>
      <p:sp>
        <p:nvSpPr>
          <p:cNvPr id="30" name="AutoShape 30"/>
          <p:cNvSpPr/>
          <p:nvPr/>
        </p:nvSpPr>
        <p:spPr>
          <a:xfrm>
            <a:off x="1016000" y="3238500"/>
            <a:ext cx="10160000" cy="698500"/>
          </a:xfrm>
          <a:prstGeom prst="roundRect">
            <a:avLst>
              <a:gd name="adj" fmla="val 0"/>
            </a:avLst>
          </a:prstGeom>
          <a:solidFill>
            <a:srgbClr val="FFFFFF">
              <a:alpha val="100000"/>
            </a:srgbClr>
          </a:solidFill>
          <a:ln w="25400" cap="flat" cmpd="sng">
            <a:solidFill>
              <a:srgbClr val="C9A961">
                <a:alpha val="100000"/>
              </a:srgbClr>
            </a:solid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1270000" y="3327400"/>
            <a:ext cx="228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8B6D39"/>
                </a:solidFill>
                <a:latin typeface="Noto Serif SC"/>
                <a:ea typeface="Noto Serif SC"/>
                <a:cs typeface="Noto Serif SC"/>
                <a:sym typeface="Noto Serif SC"/>
              </a:rPr>
              <a:t>核心约束层</a:t>
            </a:r>
            <a:endParaRPr lang="en-US" sz="1100"/>
          </a:p>
        </p:txBody>
      </p:sp>
      <p:sp>
        <p:nvSpPr>
          <p:cNvPr id="32" name="AutoShape 32"/>
          <p:cNvSpPr/>
          <p:nvPr/>
        </p:nvSpPr>
        <p:spPr>
          <a:xfrm>
            <a:off x="3556000" y="3327400"/>
            <a:ext cx="736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505050"/>
                </a:solidFill>
                <a:latin typeface="Noto Serif SC"/>
                <a:ea typeface="Noto Serif SC"/>
                <a:cs typeface="Noto Serif SC"/>
                <a:sym typeface="Noto Serif SC"/>
              </a:rPr>
              <a:t>指标语义知识库：指标定义 · 同义词映射 · 计算公式 · 维度限制 · 时间粒度 · 业务规则，为全流程提供业务口径约束</a:t>
            </a:r>
            <a:endParaRPr lang="en-US" sz="1100"/>
          </a:p>
        </p:txBody>
      </p:sp>
      <p:cxnSp>
        <p:nvCxnSpPr>
          <p:cNvPr id="33" name="Connector 33"/>
          <p:cNvCxnSpPr/>
          <p:nvPr/>
        </p:nvCxnSpPr>
        <p:spPr>
          <a:xfrm rot="-4297">
            <a:off x="1016004" y="4248150"/>
            <a:ext cx="10160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34" name="AutoShape 34"/>
          <p:cNvSpPr/>
          <p:nvPr/>
        </p:nvSpPr>
        <p:spPr>
          <a:xfrm>
            <a:off x="1016000" y="4445000"/>
            <a:ext cx="1016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A2E42"/>
                </a:solidFill>
                <a:latin typeface="Noto Serif SC"/>
                <a:ea typeface="Noto Serif SC"/>
                <a:cs typeface="Noto Serif SC"/>
                <a:sym typeface="Noto Serif SC"/>
              </a:rPr>
              <a:t>架构特点</a:t>
            </a:r>
            <a:endParaRPr lang="en-US" sz="1100"/>
          </a:p>
        </p:txBody>
      </p:sp>
      <p:sp>
        <p:nvSpPr>
          <p:cNvPr id="35" name="AutoShape 35"/>
          <p:cNvSpPr/>
          <p:nvPr/>
        </p:nvSpPr>
        <p:spPr>
          <a:xfrm>
            <a:off x="1016000" y="4851400"/>
            <a:ext cx="4826000" cy="635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200" b="1" i="0" u="none" strike="noStrike">
                <a:solidFill>
                  <a:srgbClr val="1E5A8E"/>
                </a:solidFill>
                <a:latin typeface="Noto Serif SC"/>
                <a:ea typeface="Noto Serif SC"/>
                <a:cs typeface="Noto Serif SC"/>
                <a:sym typeface="Noto Serif SC"/>
              </a:rPr>
              <a:t>语义约束贯穿全流程：</a:t>
            </a:r>
            <a:r>
              <a:rPr lang="en-US" sz="1200" b="0" i="0" u="none" strike="noStrike">
                <a:solidFill>
                  <a:srgbClr val="505050"/>
                </a:solidFill>
                <a:latin typeface="Noto Serif SC"/>
                <a:ea typeface="Noto Serif SC"/>
                <a:cs typeface="Noto Serif SC"/>
                <a:sym typeface="Noto Serif SC"/>
              </a:rPr>
              <a:t>从任务理解到结果校验，每个模块均调用指标语义知识库，确保业务口径一致性。</a:t>
            </a:r>
            <a:endParaRPr lang="en-US" sz="1100"/>
          </a:p>
        </p:txBody>
      </p:sp>
      <p:sp>
        <p:nvSpPr>
          <p:cNvPr id="36" name="AutoShape 36"/>
          <p:cNvSpPr/>
          <p:nvPr/>
        </p:nvSpPr>
        <p:spPr>
          <a:xfrm>
            <a:off x="6096000" y="4851400"/>
            <a:ext cx="4826000" cy="635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200" b="1" i="0" u="none" strike="noStrike">
                <a:solidFill>
                  <a:srgbClr val="1E5A8E"/>
                </a:solidFill>
                <a:latin typeface="Noto Serif SC"/>
                <a:ea typeface="Noto Serif SC"/>
                <a:cs typeface="Noto Serif SC"/>
                <a:sym typeface="Noto Serif SC"/>
              </a:rPr>
              <a:t>闭环自修正机制：</a:t>
            </a:r>
            <a:r>
              <a:rPr lang="en-US" sz="1200" b="0" i="0" u="none" strike="noStrike">
                <a:solidFill>
                  <a:srgbClr val="505050"/>
                </a:solidFill>
                <a:latin typeface="Noto Serif SC"/>
                <a:ea typeface="Noto Serif SC"/>
                <a:cs typeface="Noto Serif SC"/>
                <a:sym typeface="Noto Serif SC"/>
              </a:rPr>
              <a:t>结果校验模块检测口径偏差后可触发查询重生成，形成"生成—校验—修正"的闭环。</a:t>
            </a:r>
            <a:endParaRPr lang="en-US" sz="1100"/>
          </a:p>
        </p:txBody>
      </p:sp>
      <p:sp>
        <p:nvSpPr>
          <p:cNvPr id="37" name="AutoShape 37"/>
          <p:cNvSpPr/>
          <p:nvPr/>
        </p:nvSpPr>
        <p:spPr>
          <a:xfrm>
            <a:off x="1016000" y="5588000"/>
            <a:ext cx="4826000" cy="508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200" b="1" i="0" u="none" strike="noStrike">
                <a:solidFill>
                  <a:srgbClr val="1E5A8E"/>
                </a:solidFill>
                <a:latin typeface="Noto Serif SC"/>
                <a:ea typeface="Noto Serif SC"/>
                <a:cs typeface="Noto Serif SC"/>
                <a:sym typeface="Noto Serif SC"/>
              </a:rPr>
              <a:t>模块化可扩展：</a:t>
            </a:r>
            <a:r>
              <a:rPr lang="en-US" sz="1200" b="0" i="0" u="none" strike="noStrike">
                <a:solidFill>
                  <a:srgbClr val="505050"/>
                </a:solidFill>
                <a:latin typeface="Noto Serif SC"/>
                <a:ea typeface="Noto Serif SC"/>
                <a:cs typeface="Noto Serif SC"/>
                <a:sym typeface="Noto Serif SC"/>
              </a:rPr>
              <a:t>六大模块松耦合设计，支持替换底层LLM、扩展指标库和新增分析场景。</a:t>
            </a:r>
            <a:endParaRPr lang="en-US" sz="1100"/>
          </a:p>
        </p:txBody>
      </p:sp>
      <p:sp>
        <p:nvSpPr>
          <p:cNvPr id="38" name="AutoShape 38"/>
          <p:cNvSpPr/>
          <p:nvPr/>
        </p:nvSpPr>
        <p:spPr>
          <a:xfrm>
            <a:off x="6096000" y="5588000"/>
            <a:ext cx="4826000" cy="508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200" b="1" i="0" u="none" strike="noStrike">
                <a:solidFill>
                  <a:srgbClr val="1E5A8E"/>
                </a:solidFill>
                <a:latin typeface="Noto Serif SC"/>
                <a:ea typeface="Noto Serif SC"/>
                <a:cs typeface="Noto Serif SC"/>
                <a:sym typeface="Noto Serif SC"/>
              </a:rPr>
              <a:t>中文场景适配：</a:t>
            </a:r>
            <a:r>
              <a:rPr lang="en-US" sz="1200" b="0" i="0" u="none" strike="noStrike">
                <a:solidFill>
                  <a:srgbClr val="505050"/>
                </a:solidFill>
                <a:latin typeface="Noto Serif SC"/>
                <a:ea typeface="Noto Serif SC"/>
                <a:cs typeface="Noto Serif SC"/>
                <a:sym typeface="Noto Serif SC"/>
              </a:rPr>
              <a:t>针对中文业务术语歧义、同义词丰富等特点，语义匹配模块专门优化中文映射能力。</a:t>
            </a:r>
            <a:endParaRPr lang="en-US" sz="1100"/>
          </a:p>
        </p:txBody>
      </p:sp>
      <p:sp>
        <p:nvSpPr>
          <p:cNvPr id="39" name="AutoShape 39"/>
          <p:cNvSpPr/>
          <p:nvPr/>
        </p:nvSpPr>
        <p:spPr>
          <a:xfrm>
            <a:off x="1016000" y="6286500"/>
            <a:ext cx="10160000" cy="3175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888888"/>
                </a:solidFill>
                <a:latin typeface="Noto Serif SC"/>
                <a:ea typeface="Noto Serif SC"/>
                <a:cs typeface="Noto Serif SC"/>
                <a:sym typeface="Noto Serif SC"/>
              </a:rPr>
              <a:t>06 / 系统总体架构设计</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972800" cy="548640"/>
          </a:xfrm>
          <a:prstGeom prst="rect">
            <a:avLst/>
          </a:prstGeom>
          <a:noFill/>
        </p:spPr>
        <p:txBody>
          <a:bodyPr wrap="square">
            <a:spAutoFit/>
          </a:bodyPr>
          <a:lstStyle/>
          <a:p>
            <a:pPr algn="l"/>
            <a:r>
              <a:rPr sz="2800" b="1" dirty="0">
                <a:solidFill>
                  <a:srgbClr val="28283C"/>
                </a:solidFill>
              </a:rPr>
              <a:t>💻 </a:t>
            </a:r>
            <a:r>
              <a:rPr sz="2800" b="1" dirty="0" err="1">
                <a:solidFill>
                  <a:srgbClr val="28283C"/>
                </a:solidFill>
              </a:rPr>
              <a:t>核心代码实现</a:t>
            </a:r>
            <a:r>
              <a:rPr sz="2800" b="1" dirty="0">
                <a:solidFill>
                  <a:srgbClr val="28283C"/>
                </a:solidFill>
              </a:rPr>
              <a:t> · </a:t>
            </a:r>
            <a:r>
              <a:rPr sz="2800" b="1" dirty="0" err="1">
                <a:solidFill>
                  <a:srgbClr val="28283C"/>
                </a:solidFill>
              </a:rPr>
              <a:t>六模块架构已落地</a:t>
            </a:r>
            <a:endParaRPr sz="2800" b="1" dirty="0">
              <a:solidFill>
                <a:srgbClr val="28283C"/>
              </a:solidFill>
            </a:endParaRPr>
          </a:p>
        </p:txBody>
      </p:sp>
      <p:sp>
        <p:nvSpPr>
          <p:cNvPr id="3" name="TextBox 2"/>
          <p:cNvSpPr txBox="1"/>
          <p:nvPr/>
        </p:nvSpPr>
        <p:spPr>
          <a:xfrm>
            <a:off x="731520" y="914400"/>
            <a:ext cx="10972800" cy="365760"/>
          </a:xfrm>
          <a:prstGeom prst="rect">
            <a:avLst/>
          </a:prstGeom>
          <a:noFill/>
        </p:spPr>
        <p:txBody>
          <a:bodyPr wrap="square">
            <a:spAutoFit/>
          </a:bodyPr>
          <a:lstStyle/>
          <a:p>
            <a:pPr algn="l"/>
            <a:r>
              <a:rPr sz="1300" b="0">
                <a:solidFill>
                  <a:srgbClr val="646478"/>
                </a:solidFill>
              </a:rPr>
              <a:t>指标语义建模 → 语义约束 Text-to-SQL → 只读 SQL 执行，三段核心代码对应架构关键模块</a:t>
            </a:r>
          </a:p>
        </p:txBody>
      </p:sp>
      <p:sp>
        <p:nvSpPr>
          <p:cNvPr id="5" name="TextBox 4"/>
          <p:cNvSpPr txBox="1"/>
          <p:nvPr/>
        </p:nvSpPr>
        <p:spPr>
          <a:xfrm>
            <a:off x="548640" y="4684245"/>
            <a:ext cx="3657600" cy="320040"/>
          </a:xfrm>
          <a:prstGeom prst="rect">
            <a:avLst/>
          </a:prstGeom>
          <a:noFill/>
        </p:spPr>
        <p:txBody>
          <a:bodyPr wrap="square">
            <a:spAutoFit/>
          </a:bodyPr>
          <a:lstStyle/>
          <a:p>
            <a:pPr algn="l"/>
            <a:r>
              <a:rPr sz="1200" b="1" dirty="0" err="1">
                <a:solidFill>
                  <a:srgbClr val="3C3C50"/>
                </a:solidFill>
              </a:rPr>
              <a:t>指标语义层：别名倒排索引</a:t>
            </a:r>
            <a:r>
              <a:rPr sz="1200" b="1" dirty="0">
                <a:solidFill>
                  <a:srgbClr val="3C3C50"/>
                </a:solidFill>
              </a:rPr>
              <a:t> + </a:t>
            </a:r>
            <a:r>
              <a:rPr sz="1200" b="1" dirty="0" err="1">
                <a:solidFill>
                  <a:srgbClr val="3C3C50"/>
                </a:solidFill>
              </a:rPr>
              <a:t>知识格式化</a:t>
            </a:r>
            <a:endParaRPr sz="1200" b="1" dirty="0">
              <a:solidFill>
                <a:srgbClr val="3C3C50"/>
              </a:solidFill>
            </a:endParaRPr>
          </a:p>
        </p:txBody>
      </p:sp>
      <p:sp>
        <p:nvSpPr>
          <p:cNvPr id="6" name="TextBox 5"/>
          <p:cNvSpPr txBox="1"/>
          <p:nvPr/>
        </p:nvSpPr>
        <p:spPr>
          <a:xfrm>
            <a:off x="548640" y="4985489"/>
            <a:ext cx="3657600" cy="274320"/>
          </a:xfrm>
          <a:prstGeom prst="rect">
            <a:avLst/>
          </a:prstGeom>
          <a:noFill/>
        </p:spPr>
        <p:txBody>
          <a:bodyPr wrap="square">
            <a:spAutoFit/>
          </a:bodyPr>
          <a:lstStyle/>
          <a:p>
            <a:pPr algn="l"/>
            <a:r>
              <a:rPr sz="1000" b="0" dirty="0" err="1">
                <a:solidFill>
                  <a:srgbClr val="78788C"/>
                </a:solidFill>
              </a:rPr>
              <a:t>对应「语义匹配」模块</a:t>
            </a:r>
            <a:endParaRPr sz="1000" b="0" dirty="0">
              <a:solidFill>
                <a:srgbClr val="78788C"/>
              </a:solidFill>
            </a:endParaRPr>
          </a:p>
        </p:txBody>
      </p:sp>
      <p:sp>
        <p:nvSpPr>
          <p:cNvPr id="8" name="TextBox 7"/>
          <p:cNvSpPr txBox="1"/>
          <p:nvPr/>
        </p:nvSpPr>
        <p:spPr>
          <a:xfrm>
            <a:off x="4059865" y="4687910"/>
            <a:ext cx="3657600" cy="320040"/>
          </a:xfrm>
          <a:prstGeom prst="rect">
            <a:avLst/>
          </a:prstGeom>
          <a:noFill/>
        </p:spPr>
        <p:txBody>
          <a:bodyPr wrap="square">
            <a:spAutoFit/>
          </a:bodyPr>
          <a:lstStyle/>
          <a:p>
            <a:pPr algn="l"/>
            <a:r>
              <a:rPr sz="1200" b="1" dirty="0" err="1">
                <a:solidFill>
                  <a:srgbClr val="3C3C50"/>
                </a:solidFill>
              </a:rPr>
              <a:t>语义约束</a:t>
            </a:r>
            <a:r>
              <a:rPr sz="1200" b="1" dirty="0">
                <a:solidFill>
                  <a:srgbClr val="3C3C50"/>
                </a:solidFill>
              </a:rPr>
              <a:t> </a:t>
            </a:r>
            <a:r>
              <a:rPr sz="1200" b="1" dirty="0" err="1">
                <a:solidFill>
                  <a:srgbClr val="3C3C50"/>
                </a:solidFill>
              </a:rPr>
              <a:t>Text-to-SQL：生成→执行→自修复闭环</a:t>
            </a:r>
            <a:endParaRPr sz="1200" b="1" dirty="0">
              <a:solidFill>
                <a:srgbClr val="3C3C50"/>
              </a:solidFill>
            </a:endParaRPr>
          </a:p>
        </p:txBody>
      </p:sp>
      <p:sp>
        <p:nvSpPr>
          <p:cNvPr id="9" name="TextBox 8"/>
          <p:cNvSpPr txBox="1"/>
          <p:nvPr/>
        </p:nvSpPr>
        <p:spPr>
          <a:xfrm>
            <a:off x="4059865" y="4972885"/>
            <a:ext cx="3657600" cy="274320"/>
          </a:xfrm>
          <a:prstGeom prst="rect">
            <a:avLst/>
          </a:prstGeom>
          <a:noFill/>
        </p:spPr>
        <p:txBody>
          <a:bodyPr wrap="square">
            <a:spAutoFit/>
          </a:bodyPr>
          <a:lstStyle/>
          <a:p>
            <a:pPr algn="l"/>
            <a:r>
              <a:rPr sz="1000" b="0" dirty="0" err="1">
                <a:solidFill>
                  <a:srgbClr val="78788C"/>
                </a:solidFill>
              </a:rPr>
              <a:t>对应「查询生成+校验」模块</a:t>
            </a:r>
            <a:endParaRPr sz="1000" b="0" dirty="0">
              <a:solidFill>
                <a:srgbClr val="78788C"/>
              </a:solidFill>
            </a:endParaRPr>
          </a:p>
        </p:txBody>
      </p:sp>
      <p:sp>
        <p:nvSpPr>
          <p:cNvPr id="11" name="TextBox 10"/>
          <p:cNvSpPr txBox="1"/>
          <p:nvPr/>
        </p:nvSpPr>
        <p:spPr>
          <a:xfrm>
            <a:off x="8173381" y="4696351"/>
            <a:ext cx="3657600" cy="320040"/>
          </a:xfrm>
          <a:prstGeom prst="rect">
            <a:avLst/>
          </a:prstGeom>
          <a:noFill/>
        </p:spPr>
        <p:txBody>
          <a:bodyPr wrap="square">
            <a:spAutoFit/>
          </a:bodyPr>
          <a:lstStyle/>
          <a:p>
            <a:pPr algn="l"/>
            <a:r>
              <a:rPr sz="1200" b="1" dirty="0">
                <a:solidFill>
                  <a:srgbClr val="3C3C50"/>
                </a:solidFill>
              </a:rPr>
              <a:t>SQL </a:t>
            </a:r>
            <a:r>
              <a:rPr sz="1200" b="1" dirty="0" err="1">
                <a:solidFill>
                  <a:srgbClr val="3C3C50"/>
                </a:solidFill>
              </a:rPr>
              <a:t>执行器：只读模式</a:t>
            </a:r>
            <a:r>
              <a:rPr sz="1200" b="1" dirty="0">
                <a:solidFill>
                  <a:srgbClr val="3C3C50"/>
                </a:solidFill>
              </a:rPr>
              <a:t> + </a:t>
            </a:r>
            <a:r>
              <a:rPr sz="1200" b="1" dirty="0" err="1">
                <a:solidFill>
                  <a:srgbClr val="3C3C50"/>
                </a:solidFill>
              </a:rPr>
              <a:t>结构化结果</a:t>
            </a:r>
            <a:endParaRPr sz="1200" b="1" dirty="0">
              <a:solidFill>
                <a:srgbClr val="3C3C50"/>
              </a:solidFill>
            </a:endParaRPr>
          </a:p>
        </p:txBody>
      </p:sp>
      <p:sp>
        <p:nvSpPr>
          <p:cNvPr id="12" name="TextBox 11"/>
          <p:cNvSpPr txBox="1"/>
          <p:nvPr/>
        </p:nvSpPr>
        <p:spPr>
          <a:xfrm>
            <a:off x="8173381" y="4951415"/>
            <a:ext cx="3657600" cy="274320"/>
          </a:xfrm>
          <a:prstGeom prst="rect">
            <a:avLst/>
          </a:prstGeom>
          <a:noFill/>
        </p:spPr>
        <p:txBody>
          <a:bodyPr wrap="square">
            <a:spAutoFit/>
          </a:bodyPr>
          <a:lstStyle/>
          <a:p>
            <a:pPr algn="l"/>
            <a:r>
              <a:rPr sz="1000" b="0" dirty="0" err="1">
                <a:solidFill>
                  <a:srgbClr val="78788C"/>
                </a:solidFill>
              </a:rPr>
              <a:t>对应「执行规划」模块</a:t>
            </a:r>
            <a:endParaRPr sz="1000" b="0" dirty="0">
              <a:solidFill>
                <a:srgbClr val="78788C"/>
              </a:solidFill>
            </a:endParaRPr>
          </a:p>
        </p:txBody>
      </p:sp>
      <p:sp>
        <p:nvSpPr>
          <p:cNvPr id="13" name="TextBox 12"/>
          <p:cNvSpPr txBox="1"/>
          <p:nvPr/>
        </p:nvSpPr>
        <p:spPr>
          <a:xfrm>
            <a:off x="731520" y="5943600"/>
            <a:ext cx="10972800" cy="365760"/>
          </a:xfrm>
          <a:prstGeom prst="rect">
            <a:avLst/>
          </a:prstGeom>
          <a:noFill/>
        </p:spPr>
        <p:txBody>
          <a:bodyPr wrap="square">
            <a:spAutoFit/>
          </a:bodyPr>
          <a:lstStyle/>
          <a:p>
            <a:pPr algn="ctr"/>
            <a:r>
              <a:rPr sz="1200" b="1">
                <a:solidFill>
                  <a:srgbClr val="6E50C8"/>
                </a:solidFill>
              </a:rPr>
              <a:t>完整代码已开源至 GitHub：github.com/123chenqi98/semantic-bi-agent</a:t>
            </a:r>
          </a:p>
        </p:txBody>
      </p:sp>
      <p:sp>
        <p:nvSpPr>
          <p:cNvPr id="14" name="TextBox 13"/>
          <p:cNvSpPr txBox="1"/>
          <p:nvPr/>
        </p:nvSpPr>
        <p:spPr>
          <a:xfrm>
            <a:off x="731520" y="6400800"/>
            <a:ext cx="10972800" cy="274320"/>
          </a:xfrm>
          <a:prstGeom prst="rect">
            <a:avLst/>
          </a:prstGeom>
          <a:noFill/>
        </p:spPr>
        <p:txBody>
          <a:bodyPr wrap="square">
            <a:spAutoFit/>
          </a:bodyPr>
          <a:lstStyle/>
          <a:p>
            <a:pPr algn="l"/>
            <a:r>
              <a:rPr sz="1000" b="0">
                <a:solidFill>
                  <a:srgbClr val="A0A0AA"/>
                </a:solidFill>
              </a:rPr>
              <a:t>06+ / 核心代码实现</a:t>
            </a:r>
          </a:p>
        </p:txBody>
      </p:sp>
      <p:pic>
        <p:nvPicPr>
          <p:cNvPr id="15" name="图片 14">
            <a:extLst>
              <a:ext uri="{FF2B5EF4-FFF2-40B4-BE49-F238E27FC236}">
                <a16:creationId xmlns:a16="http://schemas.microsoft.com/office/drawing/2014/main" id="{2BA69E3C-081B-7508-7ED4-07944B18069F}"/>
              </a:ext>
            </a:extLst>
          </p:cNvPr>
          <p:cNvPicPr>
            <a:picLocks noChangeAspect="1"/>
          </p:cNvPicPr>
          <p:nvPr/>
        </p:nvPicPr>
        <p:blipFill>
          <a:blip r:embed="rId2"/>
          <a:stretch>
            <a:fillRect/>
          </a:stretch>
        </p:blipFill>
        <p:spPr>
          <a:xfrm>
            <a:off x="386618" y="1352100"/>
            <a:ext cx="3497510" cy="3213781"/>
          </a:xfrm>
          <a:prstGeom prst="rect">
            <a:avLst/>
          </a:prstGeom>
        </p:spPr>
      </p:pic>
      <p:pic>
        <p:nvPicPr>
          <p:cNvPr id="17" name="图片 16">
            <a:extLst>
              <a:ext uri="{FF2B5EF4-FFF2-40B4-BE49-F238E27FC236}">
                <a16:creationId xmlns:a16="http://schemas.microsoft.com/office/drawing/2014/main" id="{51525992-DB1D-FF7C-1646-C6316E62ADB1}"/>
              </a:ext>
            </a:extLst>
          </p:cNvPr>
          <p:cNvPicPr>
            <a:picLocks noChangeAspect="1"/>
          </p:cNvPicPr>
          <p:nvPr/>
        </p:nvPicPr>
        <p:blipFill>
          <a:blip r:embed="rId3"/>
          <a:stretch>
            <a:fillRect/>
          </a:stretch>
        </p:blipFill>
        <p:spPr>
          <a:xfrm>
            <a:off x="3962401" y="1358138"/>
            <a:ext cx="3852529" cy="3220347"/>
          </a:xfrm>
          <a:prstGeom prst="rect">
            <a:avLst/>
          </a:prstGeom>
        </p:spPr>
      </p:pic>
      <p:pic>
        <p:nvPicPr>
          <p:cNvPr id="18" name="图片 17">
            <a:extLst>
              <a:ext uri="{FF2B5EF4-FFF2-40B4-BE49-F238E27FC236}">
                <a16:creationId xmlns:a16="http://schemas.microsoft.com/office/drawing/2014/main" id="{7829AFEE-E9B4-2945-25F2-AA0906CE7141}"/>
              </a:ext>
            </a:extLst>
          </p:cNvPr>
          <p:cNvPicPr>
            <a:picLocks noChangeAspect="1"/>
          </p:cNvPicPr>
          <p:nvPr/>
        </p:nvPicPr>
        <p:blipFill>
          <a:blip r:embed="rId4"/>
          <a:stretch>
            <a:fillRect/>
          </a:stretch>
        </p:blipFill>
        <p:spPr>
          <a:xfrm>
            <a:off x="7861070" y="1345534"/>
            <a:ext cx="3969911" cy="322034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76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5A8E"/>
                </a:solidFill>
                <a:latin typeface="Noto Serif SC"/>
                <a:ea typeface="Noto Serif SC"/>
                <a:cs typeface="Noto Serif SC"/>
                <a:sym typeface="Noto Serif SC"/>
              </a:rPr>
              <a:t>07</a:t>
            </a:r>
            <a:endParaRPr lang="en-US" sz="1100"/>
          </a:p>
        </p:txBody>
      </p:sp>
      <p:sp>
        <p:nvSpPr>
          <p:cNvPr id="3" name="AutoShape 3"/>
          <p:cNvSpPr/>
          <p:nvPr/>
        </p:nvSpPr>
        <p:spPr>
          <a:xfrm>
            <a:off x="1651000" y="508000"/>
            <a:ext cx="635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A2E42"/>
                </a:solidFill>
                <a:latin typeface="Noto Serif SC"/>
                <a:ea typeface="Noto Serif SC"/>
                <a:cs typeface="Noto Serif SC"/>
                <a:sym typeface="Noto Serif SC"/>
              </a:rPr>
              <a:t>实验方案与评测指标</a:t>
            </a:r>
            <a:endParaRPr lang="en-US" sz="1100"/>
          </a:p>
        </p:txBody>
      </p:sp>
      <p:cxnSp>
        <p:nvCxnSpPr>
          <p:cNvPr id="4" name="Connector 4"/>
          <p:cNvCxnSpPr/>
          <p:nvPr/>
        </p:nvCxnSpPr>
        <p:spPr>
          <a:xfrm rot="-4297">
            <a:off x="1016004" y="1073150"/>
            <a:ext cx="10160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5" name="AutoShape 5"/>
          <p:cNvSpPr/>
          <p:nvPr/>
        </p:nvSpPr>
        <p:spPr>
          <a:xfrm>
            <a:off x="1016000" y="12700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E5A8E"/>
                </a:solidFill>
                <a:latin typeface="Noto Serif SC"/>
                <a:ea typeface="Noto Serif SC"/>
                <a:cs typeface="Noto Serif SC"/>
                <a:sym typeface="Noto Serif SC"/>
              </a:rPr>
              <a:t>实验设计</a:t>
            </a:r>
            <a:endParaRPr lang="en-US" sz="1100"/>
          </a:p>
        </p:txBody>
      </p:sp>
      <p:sp>
        <p:nvSpPr>
          <p:cNvPr id="6" name="AutoShape 6"/>
          <p:cNvSpPr/>
          <p:nvPr/>
        </p:nvSpPr>
        <p:spPr>
          <a:xfrm>
            <a:off x="1016000" y="1651000"/>
            <a:ext cx="4826000" cy="762000"/>
          </a:xfrm>
          <a:prstGeom prst="roundRect">
            <a:avLst>
              <a:gd name="adj" fmla="val 0"/>
            </a:avLst>
          </a:prstGeom>
          <a:solidFill>
            <a:srgbClr val="FFFFFF">
              <a:alpha val="100000"/>
            </a:srgbClr>
          </a:solidFill>
          <a:ln w="12700" cap="flat" cmpd="sng">
            <a:solidFill>
              <a:srgbClr val="1E5A8E">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206500" y="1739900"/>
            <a:ext cx="4445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1" i="0" u="none" strike="noStrike">
                <a:solidFill>
                  <a:srgbClr val="1E5A8E"/>
                </a:solidFill>
                <a:latin typeface="Noto Serif SC"/>
                <a:ea typeface="Noto Serif SC"/>
                <a:cs typeface="Noto Serif SC"/>
                <a:sym typeface="Noto Serif SC"/>
              </a:rPr>
              <a:t>基线系统：</a:t>
            </a:r>
            <a:r>
              <a:rPr lang="en-US" sz="1200" b="0" i="0" u="none" strike="noStrike">
                <a:solidFill>
                  <a:srgbClr val="3A3A3A"/>
                </a:solidFill>
                <a:latin typeface="Noto Serif SC"/>
                <a:ea typeface="Noto Serif SC"/>
                <a:cs typeface="Noto Serif SC"/>
                <a:sym typeface="Noto Serif SC"/>
              </a:rPr>
              <a:t>不带语义约束的常规Text-to-SQL流程，直接由LLM根据数据库Schema生成SQL并执行。</a:t>
            </a:r>
            <a:endParaRPr lang="en-US" sz="1100"/>
          </a:p>
        </p:txBody>
      </p:sp>
      <p:sp>
        <p:nvSpPr>
          <p:cNvPr id="8" name="AutoShape 8"/>
          <p:cNvSpPr/>
          <p:nvPr/>
        </p:nvSpPr>
        <p:spPr>
          <a:xfrm>
            <a:off x="1016000" y="2540000"/>
            <a:ext cx="4826000" cy="762000"/>
          </a:xfrm>
          <a:prstGeom prst="roundRect">
            <a:avLst>
              <a:gd name="adj" fmla="val 0"/>
            </a:avLst>
          </a:prstGeom>
          <a:solidFill>
            <a:srgbClr val="1E5A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206500" y="2628900"/>
            <a:ext cx="4445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1" i="0" u="none" strike="noStrike">
                <a:solidFill>
                  <a:srgbClr val="FFFFFF"/>
                </a:solidFill>
                <a:latin typeface="Noto Serif SC"/>
                <a:ea typeface="Noto Serif SC"/>
                <a:cs typeface="Noto Serif SC"/>
                <a:sym typeface="Noto Serif SC"/>
              </a:rPr>
              <a:t>实验系统：</a:t>
            </a:r>
            <a:r>
              <a:rPr lang="en-US" sz="1200" b="0" i="0" u="none" strike="noStrike">
                <a:solidFill>
                  <a:srgbClr val="E6F0FA"/>
                </a:solidFill>
                <a:latin typeface="Noto Serif SC"/>
                <a:ea typeface="Noto Serif SC"/>
                <a:cs typeface="Noto Serif SC"/>
                <a:sym typeface="Noto Serif SC"/>
              </a:rPr>
              <a:t>带指标语义约束的智能分析Agent，六模块流水线架构，语义知识库贯穿全流程。</a:t>
            </a:r>
            <a:endParaRPr lang="en-US" sz="1100"/>
          </a:p>
        </p:txBody>
      </p:sp>
      <p:sp>
        <p:nvSpPr>
          <p:cNvPr id="10" name="AutoShape 10"/>
          <p:cNvSpPr/>
          <p:nvPr/>
        </p:nvSpPr>
        <p:spPr>
          <a:xfrm>
            <a:off x="1016000" y="3429000"/>
            <a:ext cx="4826000" cy="762000"/>
          </a:xfrm>
          <a:prstGeom prst="roundRect">
            <a:avLst>
              <a:gd name="adj" fmla="val 0"/>
            </a:avLst>
          </a:prstGeom>
          <a:solidFill>
            <a:srgbClr val="FFFFFF">
              <a:alpha val="100000"/>
            </a:srgbClr>
          </a:solidFill>
          <a:ln w="12700" cap="flat" cmpd="sng">
            <a:solidFill>
              <a:srgbClr val="C9A961">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206500" y="3517900"/>
            <a:ext cx="4445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1" i="0" u="none" strike="noStrike">
                <a:solidFill>
                  <a:srgbClr val="8B6D39"/>
                </a:solidFill>
                <a:latin typeface="Noto Serif SC"/>
                <a:ea typeface="Noto Serif SC"/>
                <a:cs typeface="Noto Serif SC"/>
                <a:sym typeface="Noto Serif SC"/>
              </a:rPr>
              <a:t>测试任务集：</a:t>
            </a:r>
            <a:r>
              <a:rPr lang="en-US" sz="1200" b="0" i="0" u="none" strike="noStrike">
                <a:solidFill>
                  <a:srgbClr val="3A3A3A"/>
                </a:solidFill>
                <a:latin typeface="Noto Serif SC"/>
                <a:ea typeface="Noto Serif SC"/>
                <a:cs typeface="Noto Serif SC"/>
                <a:sym typeface="Noto Serif SC"/>
              </a:rPr>
              <a:t>自建经营分析任务集，覆盖销售趋势、客户分层、复购率、异常归因等高频场景，部分人工标注。</a:t>
            </a:r>
            <a:endParaRPr lang="en-US" sz="1100"/>
          </a:p>
        </p:txBody>
      </p:sp>
      <p:sp>
        <p:nvSpPr>
          <p:cNvPr id="12" name="AutoShape 12"/>
          <p:cNvSpPr/>
          <p:nvPr/>
        </p:nvSpPr>
        <p:spPr>
          <a:xfrm>
            <a:off x="1016000" y="4318000"/>
            <a:ext cx="4826000" cy="762000"/>
          </a:xfrm>
          <a:prstGeom prst="roundRect">
            <a:avLst>
              <a:gd name="adj" fmla="val 0"/>
            </a:avLst>
          </a:prstGeom>
          <a:solidFill>
            <a:srgbClr val="FFFFFF">
              <a:alpha val="100000"/>
            </a:srgbClr>
          </a:solidFill>
          <a:ln w="12700" cap="flat" cmpd="sng">
            <a:solidFill>
              <a:srgbClr val="1E5A8E">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206500" y="4406900"/>
            <a:ext cx="4445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1" i="0" u="none" strike="noStrike">
                <a:solidFill>
                  <a:srgbClr val="1E5A8E"/>
                </a:solidFill>
                <a:latin typeface="Noto Serif SC"/>
                <a:ea typeface="Noto Serif SC"/>
                <a:cs typeface="Noto Serif SC"/>
                <a:sym typeface="Noto Serif SC"/>
              </a:rPr>
              <a:t>对比维度：</a:t>
            </a:r>
            <a:r>
              <a:rPr lang="en-US" sz="1200" b="0" i="0" u="none" strike="noStrike">
                <a:solidFill>
                  <a:srgbClr val="3A3A3A"/>
                </a:solidFill>
                <a:latin typeface="Noto Serif SC"/>
                <a:ea typeface="Noto Serif SC"/>
                <a:cs typeface="Noto Serif SC"/>
                <a:sym typeface="Noto Serif SC"/>
              </a:rPr>
              <a:t>同一任务集、同一底层LLM、同一数据库，仅控制"是否引入指标语义约束"这一变量。</a:t>
            </a:r>
            <a:endParaRPr lang="en-US" sz="1100"/>
          </a:p>
        </p:txBody>
      </p:sp>
      <p:cxnSp>
        <p:nvCxnSpPr>
          <p:cNvPr id="14" name="Connector 14"/>
          <p:cNvCxnSpPr/>
          <p:nvPr/>
        </p:nvCxnSpPr>
        <p:spPr>
          <a:xfrm rot="5389257">
            <a:off x="4191000" y="3295660"/>
            <a:ext cx="4064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15" name="AutoShape 15"/>
          <p:cNvSpPr/>
          <p:nvPr/>
        </p:nvSpPr>
        <p:spPr>
          <a:xfrm>
            <a:off x="6477000" y="12700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E5A8E"/>
                </a:solidFill>
                <a:latin typeface="Noto Serif SC"/>
                <a:ea typeface="Noto Serif SC"/>
                <a:cs typeface="Noto Serif SC"/>
                <a:sym typeface="Noto Serif SC"/>
              </a:rPr>
              <a:t>评测指标体系（六维）</a:t>
            </a:r>
            <a:endParaRPr lang="en-US" sz="1100"/>
          </a:p>
        </p:txBody>
      </p:sp>
      <p:graphicFrame>
        <p:nvGraphicFramePr>
          <p:cNvPr id="16" name="Table 16"/>
          <p:cNvGraphicFramePr>
            <a:graphicFrameLocks noGrp="1"/>
          </p:cNvGraphicFramePr>
          <p:nvPr/>
        </p:nvGraphicFramePr>
        <p:xfrm>
          <a:off x="6477000" y="1651000"/>
          <a:ext cx="4699000" cy="3429000"/>
        </p:xfrm>
        <a:graphic>
          <a:graphicData uri="http://schemas.openxmlformats.org/drawingml/2006/table">
            <a:tbl>
              <a:tblPr>
                <a:effectLst/>
              </a:tblPr>
              <a:tblGrid>
                <a:gridCol w="1397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2159000">
                  <a:extLst>
                    <a:ext uri="{9D8B030D-6E8A-4147-A177-3AD203B41FA5}">
                      <a16:colId xmlns:a16="http://schemas.microsoft.com/office/drawing/2014/main" val="20002"/>
                    </a:ext>
                  </a:extLst>
                </a:gridCol>
              </a:tblGrid>
              <a:tr h="419100">
                <a:tc>
                  <a:txBody>
                    <a:bodyPr/>
                    <a:lstStyle/>
                    <a:p>
                      <a:pPr marL="0" indent="0" algn="ctr">
                        <a:lnSpc>
                          <a:spcPct val="100000"/>
                        </a:lnSpc>
                        <a:defRPr/>
                      </a:pPr>
                      <a:r>
                        <a:rPr lang="en-US" sz="1100" b="1" i="0" u="none" strike="noStrike">
                          <a:solidFill>
                            <a:srgbClr val="FFFFFF"/>
                          </a:solidFill>
                          <a:latin typeface="Noto Sans SC"/>
                          <a:ea typeface="Noto Sans SC"/>
                          <a:cs typeface="Noto Sans SC"/>
                          <a:sym typeface="Noto Sans SC"/>
                        </a:rPr>
                        <a:t>评测维度</a:t>
                      </a:r>
                      <a:endParaRPr lang="en-US" sz="1100"/>
                    </a:p>
                  </a:txBody>
                  <a:tcPr marL="101600" marR="101600" marT="101600" marB="101600" anchor="ctr">
                    <a:lnL>
                      <a:noFill/>
                    </a:lnL>
                    <a:lnR>
                      <a:noFill/>
                    </a:lnR>
                    <a:lnT>
                      <a:noFill/>
                    </a:lnT>
                    <a:lnB>
                      <a:noFill/>
                    </a:lnB>
                    <a:solidFill>
                      <a:srgbClr val="1E5A8E">
                        <a:alpha val="100000"/>
                      </a:srgbClr>
                    </a:solidFill>
                  </a:tcPr>
                </a:tc>
                <a:tc>
                  <a:txBody>
                    <a:bodyPr/>
                    <a:lstStyle/>
                    <a:p>
                      <a:pPr marL="0" indent="0" algn="ctr">
                        <a:lnSpc>
                          <a:spcPct val="100000"/>
                        </a:lnSpc>
                        <a:defRPr/>
                      </a:pPr>
                      <a:r>
                        <a:rPr lang="en-US" sz="1100" b="1" i="0" u="none" strike="noStrike">
                          <a:solidFill>
                            <a:srgbClr val="FFFFFF"/>
                          </a:solidFill>
                          <a:latin typeface="Noto Sans SC"/>
                          <a:ea typeface="Noto Sans SC"/>
                          <a:cs typeface="Noto Sans SC"/>
                          <a:sym typeface="Noto Sans SC"/>
                        </a:rPr>
                        <a:t>类型</a:t>
                      </a:r>
                      <a:endParaRPr lang="en-US" sz="1100"/>
                    </a:p>
                  </a:txBody>
                  <a:tcPr marL="101600" marR="101600" marT="101600" marB="101600" anchor="ctr">
                    <a:lnL>
                      <a:noFill/>
                    </a:lnL>
                    <a:lnR>
                      <a:noFill/>
                    </a:lnR>
                    <a:lnT>
                      <a:noFill/>
                    </a:lnT>
                    <a:lnB>
                      <a:noFill/>
                    </a:lnB>
                    <a:solidFill>
                      <a:srgbClr val="1E5A8E">
                        <a:alpha val="100000"/>
                      </a:srgbClr>
                    </a:solidFill>
                  </a:tcPr>
                </a:tc>
                <a:tc>
                  <a:txBody>
                    <a:bodyPr/>
                    <a:lstStyle/>
                    <a:p>
                      <a:pPr marL="0" indent="0" algn="ctr">
                        <a:lnSpc>
                          <a:spcPct val="100000"/>
                        </a:lnSpc>
                        <a:defRPr/>
                      </a:pPr>
                      <a:r>
                        <a:rPr lang="en-US" sz="1100" b="1" i="0" u="none" strike="noStrike">
                          <a:solidFill>
                            <a:srgbClr val="FFFFFF"/>
                          </a:solidFill>
                          <a:latin typeface="Noto Sans SC"/>
                          <a:ea typeface="Noto Sans SC"/>
                          <a:cs typeface="Noto Sans SC"/>
                          <a:sym typeface="Noto Sans SC"/>
                        </a:rPr>
                        <a:t>说明</a:t>
                      </a:r>
                      <a:endParaRPr lang="en-US" sz="1100"/>
                    </a:p>
                  </a:txBody>
                  <a:tcPr marL="101600" marR="101600" marT="101600" marB="101600" anchor="ctr">
                    <a:lnL>
                      <a:noFill/>
                    </a:lnL>
                    <a:lnR>
                      <a:noFill/>
                    </a:lnR>
                    <a:lnT>
                      <a:noFill/>
                    </a:lnT>
                    <a:lnB>
                      <a:noFill/>
                    </a:lnB>
                    <a:solidFill>
                      <a:srgbClr val="1E5A8E">
                        <a:alpha val="100000"/>
                      </a:srgbClr>
                    </a:solidFill>
                  </a:tcPr>
                </a:tc>
                <a:extLst>
                  <a:ext uri="{0D108BD9-81ED-4DB2-BD59-A6C34878D82A}">
                    <a16:rowId xmlns:a16="http://schemas.microsoft.com/office/drawing/2014/main" val="10000"/>
                  </a:ext>
                </a:extLst>
              </a:tr>
              <a:tr h="495300">
                <a:tc>
                  <a:txBody>
                    <a:bodyPr/>
                    <a:lstStyle/>
                    <a:p>
                      <a:pPr marL="0" indent="0" algn="ctr">
                        <a:lnSpc>
                          <a:spcPct val="100000"/>
                        </a:lnSpc>
                        <a:defRPr/>
                      </a:pPr>
                      <a:r>
                        <a:rPr lang="en-US" sz="1100" b="1" i="0" u="none" strike="noStrike">
                          <a:solidFill>
                            <a:srgbClr val="3A3A3A"/>
                          </a:solidFill>
                          <a:latin typeface="Noto Sans SC"/>
                          <a:ea typeface="Noto Sans SC"/>
                          <a:cs typeface="Noto Sans SC"/>
                          <a:sym typeface="Noto Sans SC"/>
                        </a:rPr>
                        <a:t>SQL执行准确率</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000" b="0" i="0" u="none" strike="noStrike">
                          <a:solidFill>
                            <a:srgbClr val="646464"/>
                          </a:solidFill>
                          <a:latin typeface="Noto Sans SC"/>
                          <a:ea typeface="Noto Sans SC"/>
                          <a:cs typeface="Noto Sans SC"/>
                          <a:sym typeface="Noto Sans SC"/>
                        </a:rPr>
                        <a:t>客观指标</a:t>
                      </a:r>
                      <a:endParaRPr lang="en-US" sz="1100"/>
                    </a:p>
                  </a:txBody>
                  <a:tcPr marL="101600" marR="101600" marT="101600" marB="101600" anchor="ctr">
                    <a:lnL>
                      <a:noFill/>
                    </a:lnL>
                    <a:lnR>
                      <a:noFill/>
                    </a:lnR>
                    <a:lnT>
                      <a:noFill/>
                    </a:lnT>
                    <a:lnB>
                      <a:noFill/>
                    </a:lnB>
                    <a:noFill/>
                  </a:tcPr>
                </a:tc>
                <a:tc>
                  <a:txBody>
                    <a:bodyPr/>
                    <a:lstStyle/>
                    <a:p>
                      <a:pPr marL="0" indent="0" algn="l">
                        <a:lnSpc>
                          <a:spcPct val="100000"/>
                        </a:lnSpc>
                        <a:defRPr/>
                      </a:pPr>
                      <a:r>
                        <a:rPr lang="en-US" sz="1000" b="0" i="0" u="none" strike="noStrike">
                          <a:solidFill>
                            <a:srgbClr val="505050"/>
                          </a:solidFill>
                          <a:latin typeface="Noto Sans SC"/>
                          <a:ea typeface="Noto Sans SC"/>
                          <a:cs typeface="Noto Sans SC"/>
                          <a:sym typeface="Noto Sans SC"/>
                        </a:rPr>
                        <a:t>查询可执行且结果正确的比例</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1"/>
                  </a:ext>
                </a:extLst>
              </a:tr>
              <a:tr h="495300">
                <a:tc>
                  <a:txBody>
                    <a:bodyPr/>
                    <a:lstStyle/>
                    <a:p>
                      <a:pPr marL="0" indent="0" algn="ctr">
                        <a:lnSpc>
                          <a:spcPct val="100000"/>
                        </a:lnSpc>
                        <a:defRPr/>
                      </a:pPr>
                      <a:r>
                        <a:rPr lang="en-US" sz="1100" b="1" i="0" u="none" strike="noStrike">
                          <a:solidFill>
                            <a:srgbClr val="3A3A3A"/>
                          </a:solidFill>
                          <a:latin typeface="Noto Sans SC"/>
                          <a:ea typeface="Noto Sans SC"/>
                          <a:cs typeface="Noto Sans SC"/>
                          <a:sym typeface="Noto Sans SC"/>
                        </a:rPr>
                        <a:t>指标语义一致性</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000" b="0" i="0" u="none" strike="noStrike">
                          <a:solidFill>
                            <a:srgbClr val="646464"/>
                          </a:solidFill>
                          <a:latin typeface="Noto Sans SC"/>
                          <a:ea typeface="Noto Sans SC"/>
                          <a:cs typeface="Noto Sans SC"/>
                          <a:sym typeface="Noto Sans SC"/>
                        </a:rPr>
                        <a:t>核心指标</a:t>
                      </a:r>
                      <a:endParaRPr lang="en-US" sz="1100"/>
                    </a:p>
                  </a:txBody>
                  <a:tcPr marL="101600" marR="101600" marT="101600" marB="101600" anchor="ctr">
                    <a:lnL>
                      <a:noFill/>
                    </a:lnL>
                    <a:lnR>
                      <a:noFill/>
                    </a:lnR>
                    <a:lnT>
                      <a:noFill/>
                    </a:lnT>
                    <a:lnB>
                      <a:noFill/>
                    </a:lnB>
                    <a:noFill/>
                  </a:tcPr>
                </a:tc>
                <a:tc>
                  <a:txBody>
                    <a:bodyPr/>
                    <a:lstStyle/>
                    <a:p>
                      <a:pPr marL="0" indent="0" algn="l">
                        <a:lnSpc>
                          <a:spcPct val="100000"/>
                        </a:lnSpc>
                        <a:defRPr/>
                      </a:pPr>
                      <a:r>
                        <a:rPr lang="en-US" sz="1000" b="0" i="0" u="none" strike="noStrike">
                          <a:solidFill>
                            <a:srgbClr val="505050"/>
                          </a:solidFill>
                          <a:latin typeface="Noto Sans SC"/>
                          <a:ea typeface="Noto Sans SC"/>
                          <a:cs typeface="Noto Sans SC"/>
                          <a:sym typeface="Noto Sans SC"/>
                        </a:rPr>
                        <a:t>输出符合预定义指标口径的程度</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2"/>
                  </a:ext>
                </a:extLst>
              </a:tr>
              <a:tr h="495300">
                <a:tc>
                  <a:txBody>
                    <a:bodyPr/>
                    <a:lstStyle/>
                    <a:p>
                      <a:pPr marL="0" indent="0" algn="ctr">
                        <a:lnSpc>
                          <a:spcPct val="100000"/>
                        </a:lnSpc>
                        <a:defRPr/>
                      </a:pPr>
                      <a:r>
                        <a:rPr lang="en-US" sz="1100" b="1" i="0" u="none" strike="noStrike">
                          <a:solidFill>
                            <a:srgbClr val="3A3A3A"/>
                          </a:solidFill>
                          <a:latin typeface="Noto Sans SC"/>
                          <a:ea typeface="Noto Sans SC"/>
                          <a:cs typeface="Noto Sans SC"/>
                          <a:sym typeface="Noto Sans SC"/>
                        </a:rPr>
                        <a:t>任务完成率</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000" b="0" i="0" u="none" strike="noStrike">
                          <a:solidFill>
                            <a:srgbClr val="646464"/>
                          </a:solidFill>
                          <a:latin typeface="Noto Sans SC"/>
                          <a:ea typeface="Noto Sans SC"/>
                          <a:cs typeface="Noto Sans SC"/>
                          <a:sym typeface="Noto Sans SC"/>
                        </a:rPr>
                        <a:t>客观指标</a:t>
                      </a:r>
                      <a:endParaRPr lang="en-US" sz="1100"/>
                    </a:p>
                  </a:txBody>
                  <a:tcPr marL="101600" marR="101600" marT="101600" marB="101600" anchor="ctr">
                    <a:lnL>
                      <a:noFill/>
                    </a:lnL>
                    <a:lnR>
                      <a:noFill/>
                    </a:lnR>
                    <a:lnT>
                      <a:noFill/>
                    </a:lnT>
                    <a:lnB>
                      <a:noFill/>
                    </a:lnB>
                    <a:noFill/>
                  </a:tcPr>
                </a:tc>
                <a:tc>
                  <a:txBody>
                    <a:bodyPr/>
                    <a:lstStyle/>
                    <a:p>
                      <a:pPr marL="0" indent="0" algn="l">
                        <a:lnSpc>
                          <a:spcPct val="100000"/>
                        </a:lnSpc>
                        <a:defRPr/>
                      </a:pPr>
                      <a:r>
                        <a:rPr lang="en-US" sz="1000" b="0" i="0" u="none" strike="noStrike">
                          <a:solidFill>
                            <a:srgbClr val="505050"/>
                          </a:solidFill>
                          <a:latin typeface="Noto Sans SC"/>
                          <a:ea typeface="Noto Sans SC"/>
                          <a:cs typeface="Noto Sans SC"/>
                          <a:sym typeface="Noto Sans SC"/>
                        </a:rPr>
                        <a:t>成功完成经营分析任务的比例</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3"/>
                  </a:ext>
                </a:extLst>
              </a:tr>
              <a:tr h="495300">
                <a:tc>
                  <a:txBody>
                    <a:bodyPr/>
                    <a:lstStyle/>
                    <a:p>
                      <a:pPr marL="0" indent="0" algn="ctr">
                        <a:lnSpc>
                          <a:spcPct val="100000"/>
                        </a:lnSpc>
                        <a:defRPr/>
                      </a:pPr>
                      <a:r>
                        <a:rPr lang="en-US" sz="1100" b="1" i="0" u="none" strike="noStrike">
                          <a:solidFill>
                            <a:srgbClr val="3A3A3A"/>
                          </a:solidFill>
                          <a:latin typeface="Noto Sans SC"/>
                          <a:ea typeface="Noto Sans SC"/>
                          <a:cs typeface="Noto Sans SC"/>
                          <a:sym typeface="Noto Sans SC"/>
                        </a:rPr>
                        <a:t>平均修正次数</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000" b="0" i="0" u="none" strike="noStrike">
                          <a:solidFill>
                            <a:srgbClr val="646464"/>
                          </a:solidFill>
                          <a:latin typeface="Noto Sans SC"/>
                          <a:ea typeface="Noto Sans SC"/>
                          <a:cs typeface="Noto Sans SC"/>
                          <a:sym typeface="Noto Sans SC"/>
                        </a:rPr>
                        <a:t>效率指标</a:t>
                      </a:r>
                      <a:endParaRPr lang="en-US" sz="1100"/>
                    </a:p>
                  </a:txBody>
                  <a:tcPr marL="101600" marR="101600" marT="101600" marB="101600" anchor="ctr">
                    <a:lnL>
                      <a:noFill/>
                    </a:lnL>
                    <a:lnR>
                      <a:noFill/>
                    </a:lnR>
                    <a:lnT>
                      <a:noFill/>
                    </a:lnT>
                    <a:lnB>
                      <a:noFill/>
                    </a:lnB>
                    <a:noFill/>
                  </a:tcPr>
                </a:tc>
                <a:tc>
                  <a:txBody>
                    <a:bodyPr/>
                    <a:lstStyle/>
                    <a:p>
                      <a:pPr marL="0" indent="0" algn="l">
                        <a:lnSpc>
                          <a:spcPct val="100000"/>
                        </a:lnSpc>
                        <a:defRPr/>
                      </a:pPr>
                      <a:r>
                        <a:rPr lang="en-US" sz="1000" b="0" i="0" u="none" strike="noStrike">
                          <a:solidFill>
                            <a:srgbClr val="505050"/>
                          </a:solidFill>
                          <a:latin typeface="Noto Sans SC"/>
                          <a:ea typeface="Noto Sans SC"/>
                          <a:cs typeface="Noto Sans SC"/>
                          <a:sym typeface="Noto Sans SC"/>
                        </a:rPr>
                        <a:t>执行中回退或修正的平均次数</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4"/>
                  </a:ext>
                </a:extLst>
              </a:tr>
              <a:tr h="495300">
                <a:tc>
                  <a:txBody>
                    <a:bodyPr/>
                    <a:lstStyle/>
                    <a:p>
                      <a:pPr marL="0" indent="0" algn="ctr">
                        <a:lnSpc>
                          <a:spcPct val="100000"/>
                        </a:lnSpc>
                        <a:defRPr/>
                      </a:pPr>
                      <a:r>
                        <a:rPr lang="en-US" sz="1100" b="1" i="0" u="none" strike="noStrike">
                          <a:solidFill>
                            <a:srgbClr val="3A3A3A"/>
                          </a:solidFill>
                          <a:latin typeface="Noto Sans SC"/>
                          <a:ea typeface="Noto Sans SC"/>
                          <a:cs typeface="Noto Sans SC"/>
                          <a:sym typeface="Noto Sans SC"/>
                        </a:rPr>
                        <a:t>人工修正成本</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000" b="0" i="0" u="none" strike="noStrike">
                          <a:solidFill>
                            <a:srgbClr val="646464"/>
                          </a:solidFill>
                          <a:latin typeface="Noto Sans SC"/>
                          <a:ea typeface="Noto Sans SC"/>
                          <a:cs typeface="Noto Sans SC"/>
                          <a:sym typeface="Noto Sans SC"/>
                        </a:rPr>
                        <a:t>成本指标</a:t>
                      </a:r>
                      <a:endParaRPr lang="en-US" sz="1100"/>
                    </a:p>
                  </a:txBody>
                  <a:tcPr marL="101600" marR="101600" marT="101600" marB="101600" anchor="ctr">
                    <a:lnL>
                      <a:noFill/>
                    </a:lnL>
                    <a:lnR>
                      <a:noFill/>
                    </a:lnR>
                    <a:lnT>
                      <a:noFill/>
                    </a:lnT>
                    <a:lnB>
                      <a:noFill/>
                    </a:lnB>
                    <a:noFill/>
                  </a:tcPr>
                </a:tc>
                <a:tc>
                  <a:txBody>
                    <a:bodyPr/>
                    <a:lstStyle/>
                    <a:p>
                      <a:pPr marL="0" indent="0" algn="l">
                        <a:lnSpc>
                          <a:spcPct val="100000"/>
                        </a:lnSpc>
                        <a:defRPr/>
                      </a:pPr>
                      <a:r>
                        <a:rPr lang="en-US" sz="1000" b="0" i="0" u="none" strike="noStrike">
                          <a:solidFill>
                            <a:srgbClr val="505050"/>
                          </a:solidFill>
                          <a:latin typeface="Noto Sans SC"/>
                          <a:ea typeface="Noto Sans SC"/>
                          <a:cs typeface="Noto Sans SC"/>
                          <a:sym typeface="Noto Sans SC"/>
                        </a:rPr>
                        <a:t>用户纠正结果所需的操作量</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5"/>
                  </a:ext>
                </a:extLst>
              </a:tr>
              <a:tr h="533400">
                <a:tc>
                  <a:txBody>
                    <a:bodyPr/>
                    <a:lstStyle/>
                    <a:p>
                      <a:pPr marL="0" indent="0" algn="ctr">
                        <a:lnSpc>
                          <a:spcPct val="100000"/>
                        </a:lnSpc>
                        <a:defRPr/>
                      </a:pPr>
                      <a:r>
                        <a:rPr lang="en-US" sz="1100" b="1" i="0" u="none" strike="noStrike">
                          <a:solidFill>
                            <a:srgbClr val="3A3A3A"/>
                          </a:solidFill>
                          <a:latin typeface="Noto Sans SC"/>
                          <a:ea typeface="Noto Sans SC"/>
                          <a:cs typeface="Noto Sans SC"/>
                          <a:sym typeface="Noto Sans SC"/>
                        </a:rPr>
                        <a:t>洞察可用性</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000" b="0" i="0" u="none" strike="noStrike">
                          <a:solidFill>
                            <a:srgbClr val="646464"/>
                          </a:solidFill>
                          <a:latin typeface="Noto Sans SC"/>
                          <a:ea typeface="Noto Sans SC"/>
                          <a:cs typeface="Noto Sans SC"/>
                          <a:sym typeface="Noto Sans SC"/>
                        </a:rPr>
                        <a:t>主观指标</a:t>
                      </a:r>
                      <a:endParaRPr lang="en-US" sz="1100"/>
                    </a:p>
                  </a:txBody>
                  <a:tcPr marL="101600" marR="101600" marT="101600" marB="101600" anchor="ctr">
                    <a:lnL>
                      <a:noFill/>
                    </a:lnL>
                    <a:lnR>
                      <a:noFill/>
                    </a:lnR>
                    <a:lnT>
                      <a:noFill/>
                    </a:lnT>
                    <a:lnB>
                      <a:noFill/>
                    </a:lnB>
                    <a:noFill/>
                  </a:tcPr>
                </a:tc>
                <a:tc>
                  <a:txBody>
                    <a:bodyPr/>
                    <a:lstStyle/>
                    <a:p>
                      <a:pPr marL="0" indent="0" algn="l">
                        <a:lnSpc>
                          <a:spcPct val="100000"/>
                        </a:lnSpc>
                        <a:defRPr/>
                      </a:pPr>
                      <a:r>
                        <a:rPr lang="en-US" sz="1000" b="0" i="0" u="none" strike="noStrike">
                          <a:solidFill>
                            <a:srgbClr val="505050"/>
                          </a:solidFill>
                          <a:latin typeface="Noto Sans SC"/>
                          <a:ea typeface="Noto Sans SC"/>
                          <a:cs typeface="Noto Sans SC"/>
                          <a:sym typeface="Noto Sans SC"/>
                        </a:rPr>
                        <a:t>表达清晰度、业务相关性与解释合理性</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6"/>
                  </a:ext>
                </a:extLst>
              </a:tr>
            </a:tbl>
          </a:graphicData>
        </a:graphic>
      </p:graphicFrame>
      <p:sp>
        <p:nvSpPr>
          <p:cNvPr id="17" name="AutoShape 17"/>
          <p:cNvSpPr/>
          <p:nvPr/>
        </p:nvSpPr>
        <p:spPr>
          <a:xfrm>
            <a:off x="1016000" y="6286500"/>
            <a:ext cx="10160000" cy="3175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888888"/>
                </a:solidFill>
                <a:latin typeface="Noto Serif SC"/>
                <a:ea typeface="Noto Serif SC"/>
                <a:cs typeface="Noto Serif SC"/>
                <a:sym typeface="Noto Serif SC"/>
              </a:rPr>
              <a:t>07 / 实验方案与评测指标</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E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76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5A8E"/>
                </a:solidFill>
                <a:latin typeface="Noto Serif SC"/>
                <a:ea typeface="Noto Serif SC"/>
                <a:cs typeface="Noto Serif SC"/>
                <a:sym typeface="Noto Serif SC"/>
              </a:rPr>
              <a:t>08</a:t>
            </a:r>
            <a:endParaRPr lang="en-US" sz="1100"/>
          </a:p>
        </p:txBody>
      </p:sp>
      <p:sp>
        <p:nvSpPr>
          <p:cNvPr id="3" name="AutoShape 3"/>
          <p:cNvSpPr/>
          <p:nvPr/>
        </p:nvSpPr>
        <p:spPr>
          <a:xfrm>
            <a:off x="1651000" y="508000"/>
            <a:ext cx="635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A2E42"/>
                </a:solidFill>
                <a:latin typeface="Noto Serif SC"/>
                <a:ea typeface="Noto Serif SC"/>
                <a:cs typeface="Noto Serif SC"/>
                <a:sym typeface="Noto Serif SC"/>
              </a:rPr>
              <a:t>技术路线与数据来源</a:t>
            </a:r>
            <a:endParaRPr lang="en-US" sz="1100"/>
          </a:p>
        </p:txBody>
      </p:sp>
      <p:cxnSp>
        <p:nvCxnSpPr>
          <p:cNvPr id="4" name="Connector 4"/>
          <p:cNvCxnSpPr/>
          <p:nvPr/>
        </p:nvCxnSpPr>
        <p:spPr>
          <a:xfrm rot="-4297">
            <a:off x="1016004" y="1073150"/>
            <a:ext cx="10160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5" name="AutoShape 5"/>
          <p:cNvSpPr/>
          <p:nvPr/>
        </p:nvSpPr>
        <p:spPr>
          <a:xfrm>
            <a:off x="1016000" y="12700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E5A8E"/>
                </a:solidFill>
                <a:latin typeface="Noto Serif SC"/>
                <a:ea typeface="Noto Serif SC"/>
                <a:cs typeface="Noto Serif SC"/>
                <a:sym typeface="Noto Serif SC"/>
              </a:rPr>
              <a:t>技术路线（七步）</a:t>
            </a:r>
            <a:endParaRPr lang="en-US" sz="1100"/>
          </a:p>
        </p:txBody>
      </p:sp>
      <p:sp>
        <p:nvSpPr>
          <p:cNvPr id="6" name="AutoShape 6"/>
          <p:cNvSpPr/>
          <p:nvPr/>
        </p:nvSpPr>
        <p:spPr>
          <a:xfrm>
            <a:off x="1016000" y="1714500"/>
            <a:ext cx="381000" cy="381000"/>
          </a:xfrm>
          <a:prstGeom prst="roundRect">
            <a:avLst>
              <a:gd name="adj" fmla="val 0"/>
            </a:avLst>
          </a:prstGeom>
          <a:solidFill>
            <a:srgbClr val="1E5A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1714500"/>
            <a:ext cx="381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FFFFFF"/>
                </a:solidFill>
                <a:latin typeface="Noto Serif SC"/>
                <a:ea typeface="Noto Serif SC"/>
                <a:cs typeface="Noto Serif SC"/>
                <a:sym typeface="Noto Serif SC"/>
              </a:rPr>
              <a:t>1</a:t>
            </a:r>
            <a:endParaRPr lang="en-US" sz="1100"/>
          </a:p>
        </p:txBody>
      </p:sp>
      <p:sp>
        <p:nvSpPr>
          <p:cNvPr id="8" name="AutoShape 8"/>
          <p:cNvSpPr/>
          <p:nvPr/>
        </p:nvSpPr>
        <p:spPr>
          <a:xfrm>
            <a:off x="1524000" y="1714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A3A3A"/>
                </a:solidFill>
                <a:latin typeface="Noto Serif SC"/>
                <a:ea typeface="Noto Serif SC"/>
                <a:cs typeface="Noto Serif SC"/>
                <a:sym typeface="Noto Serif SC"/>
              </a:rPr>
              <a:t>文献调研，明确研究边界与关键问题</a:t>
            </a:r>
            <a:endParaRPr lang="en-US" sz="1100"/>
          </a:p>
        </p:txBody>
      </p:sp>
      <p:cxnSp>
        <p:nvCxnSpPr>
          <p:cNvPr id="9" name="Connector 9"/>
          <p:cNvCxnSpPr/>
          <p:nvPr/>
        </p:nvCxnSpPr>
        <p:spPr>
          <a:xfrm rot="5171155">
            <a:off x="1111250" y="2222711"/>
            <a:ext cx="190500" cy="12700"/>
          </a:xfrm>
          <a:prstGeom prst="straightConnector1">
            <a:avLst/>
          </a:prstGeom>
          <a:solidFill>
            <a:srgbClr val="DEE0E3">
              <a:alpha val="100000"/>
            </a:srgbClr>
          </a:solidFill>
          <a:ln w="25400" cap="flat" cmpd="sng">
            <a:solidFill>
              <a:srgbClr val="1E5A8E">
                <a:alpha val="100000"/>
              </a:srgbClr>
            </a:solidFill>
            <a:prstDash val="solid"/>
            <a:round/>
            <a:headEnd type="none" w="lg" len="lg"/>
            <a:tailEnd type="none" w="lg" len="lg"/>
          </a:ln>
        </p:spPr>
      </p:cxnSp>
      <p:sp>
        <p:nvSpPr>
          <p:cNvPr id="10" name="AutoShape 10"/>
          <p:cNvSpPr/>
          <p:nvPr/>
        </p:nvSpPr>
        <p:spPr>
          <a:xfrm>
            <a:off x="1016000" y="2324100"/>
            <a:ext cx="381000" cy="381000"/>
          </a:xfrm>
          <a:prstGeom prst="roundRect">
            <a:avLst>
              <a:gd name="adj" fmla="val 0"/>
            </a:avLst>
          </a:prstGeom>
          <a:solidFill>
            <a:srgbClr val="2D6E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16000" y="2324100"/>
            <a:ext cx="381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FFFFFF"/>
                </a:solidFill>
                <a:latin typeface="Noto Serif SC"/>
                <a:ea typeface="Noto Serif SC"/>
                <a:cs typeface="Noto Serif SC"/>
                <a:sym typeface="Noto Serif SC"/>
              </a:rPr>
              <a:t>2</a:t>
            </a:r>
            <a:endParaRPr lang="en-US" sz="1100"/>
          </a:p>
        </p:txBody>
      </p:sp>
      <p:sp>
        <p:nvSpPr>
          <p:cNvPr id="12" name="AutoShape 12"/>
          <p:cNvSpPr/>
          <p:nvPr/>
        </p:nvSpPr>
        <p:spPr>
          <a:xfrm>
            <a:off x="1524000" y="23241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A3A3A"/>
                </a:solidFill>
                <a:latin typeface="Noto Serif SC"/>
                <a:ea typeface="Noto Serif SC"/>
                <a:cs typeface="Noto Serif SC"/>
                <a:sym typeface="Noto Serif SC"/>
              </a:rPr>
              <a:t>设计指标语义约束模型，形成知识表示方案</a:t>
            </a:r>
            <a:endParaRPr lang="en-US" sz="1100"/>
          </a:p>
        </p:txBody>
      </p:sp>
      <p:cxnSp>
        <p:nvCxnSpPr>
          <p:cNvPr id="13" name="Connector 13"/>
          <p:cNvCxnSpPr/>
          <p:nvPr/>
        </p:nvCxnSpPr>
        <p:spPr>
          <a:xfrm rot="5171155">
            <a:off x="1111250" y="2832311"/>
            <a:ext cx="190500" cy="12700"/>
          </a:xfrm>
          <a:prstGeom prst="straightConnector1">
            <a:avLst/>
          </a:prstGeom>
          <a:solidFill>
            <a:srgbClr val="DEE0E3">
              <a:alpha val="100000"/>
            </a:srgbClr>
          </a:solidFill>
          <a:ln w="25400" cap="flat" cmpd="sng">
            <a:solidFill>
              <a:srgbClr val="2D6EA5">
                <a:alpha val="100000"/>
              </a:srgbClr>
            </a:solidFill>
            <a:prstDash val="solid"/>
            <a:round/>
            <a:headEnd type="none" w="lg" len="lg"/>
            <a:tailEnd type="none" w="lg" len="lg"/>
          </a:ln>
        </p:spPr>
      </p:cxnSp>
      <p:sp>
        <p:nvSpPr>
          <p:cNvPr id="14" name="AutoShape 14"/>
          <p:cNvSpPr/>
          <p:nvPr/>
        </p:nvSpPr>
        <p:spPr>
          <a:xfrm>
            <a:off x="1016000" y="2933700"/>
            <a:ext cx="381000" cy="381000"/>
          </a:xfrm>
          <a:prstGeom prst="roundRect">
            <a:avLst>
              <a:gd name="adj" fmla="val 0"/>
            </a:avLst>
          </a:prstGeom>
          <a:solidFill>
            <a:srgbClr val="3C7DB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016000" y="2933700"/>
            <a:ext cx="381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FFFFFF"/>
                </a:solidFill>
                <a:latin typeface="Noto Serif SC"/>
                <a:ea typeface="Noto Serif SC"/>
                <a:cs typeface="Noto Serif SC"/>
                <a:sym typeface="Noto Serif SC"/>
              </a:rPr>
              <a:t>3</a:t>
            </a:r>
            <a:endParaRPr lang="en-US" sz="1100"/>
          </a:p>
        </p:txBody>
      </p:sp>
      <p:sp>
        <p:nvSpPr>
          <p:cNvPr id="16" name="AutoShape 16"/>
          <p:cNvSpPr/>
          <p:nvPr/>
        </p:nvSpPr>
        <p:spPr>
          <a:xfrm>
            <a:off x="1524000" y="29337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A3A3A"/>
                </a:solidFill>
                <a:latin typeface="Noto Serif SC"/>
                <a:ea typeface="Noto Serif SC"/>
                <a:cs typeface="Noto Serif SC"/>
                <a:sym typeface="Noto Serif SC"/>
              </a:rPr>
              <a:t>构建实验数据环境，完成事实表与维表建模</a:t>
            </a:r>
            <a:endParaRPr lang="en-US" sz="1100"/>
          </a:p>
        </p:txBody>
      </p:sp>
      <p:cxnSp>
        <p:nvCxnSpPr>
          <p:cNvPr id="17" name="Connector 17"/>
          <p:cNvCxnSpPr/>
          <p:nvPr/>
        </p:nvCxnSpPr>
        <p:spPr>
          <a:xfrm rot="5171155">
            <a:off x="1111250" y="3441911"/>
            <a:ext cx="190500" cy="12700"/>
          </a:xfrm>
          <a:prstGeom prst="straightConnector1">
            <a:avLst/>
          </a:prstGeom>
          <a:solidFill>
            <a:srgbClr val="DEE0E3">
              <a:alpha val="100000"/>
            </a:srgbClr>
          </a:solidFill>
          <a:ln w="25400" cap="flat" cmpd="sng">
            <a:solidFill>
              <a:srgbClr val="3C7DB4">
                <a:alpha val="100000"/>
              </a:srgbClr>
            </a:solidFill>
            <a:prstDash val="solid"/>
            <a:round/>
            <a:headEnd type="none" w="lg" len="lg"/>
            <a:tailEnd type="none" w="lg" len="lg"/>
          </a:ln>
        </p:spPr>
      </p:cxnSp>
      <p:sp>
        <p:nvSpPr>
          <p:cNvPr id="18" name="AutoShape 18"/>
          <p:cNvSpPr/>
          <p:nvPr/>
        </p:nvSpPr>
        <p:spPr>
          <a:xfrm>
            <a:off x="1016000" y="3543300"/>
            <a:ext cx="381000" cy="381000"/>
          </a:xfrm>
          <a:prstGeom prst="roundRect">
            <a:avLst>
              <a:gd name="adj" fmla="val 0"/>
            </a:avLst>
          </a:prstGeom>
          <a:solidFill>
            <a:srgbClr val="5091C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1016000" y="3543300"/>
            <a:ext cx="381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FFFFFF"/>
                </a:solidFill>
                <a:latin typeface="Noto Serif SC"/>
                <a:ea typeface="Noto Serif SC"/>
                <a:cs typeface="Noto Serif SC"/>
                <a:sym typeface="Noto Serif SC"/>
              </a:rPr>
              <a:t>4</a:t>
            </a:r>
            <a:endParaRPr lang="en-US" sz="1100"/>
          </a:p>
        </p:txBody>
      </p:sp>
      <p:sp>
        <p:nvSpPr>
          <p:cNvPr id="20" name="AutoShape 20"/>
          <p:cNvSpPr/>
          <p:nvPr/>
        </p:nvSpPr>
        <p:spPr>
          <a:xfrm>
            <a:off x="1524000" y="35433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A3A3A"/>
                </a:solidFill>
                <a:latin typeface="Noto Serif SC"/>
                <a:ea typeface="Noto Serif SC"/>
                <a:cs typeface="Noto Serif SC"/>
                <a:sym typeface="Noto Serif SC"/>
              </a:rPr>
              <a:t>设计并实现智能分析Agent原型系统</a:t>
            </a:r>
            <a:endParaRPr lang="en-US" sz="1100"/>
          </a:p>
        </p:txBody>
      </p:sp>
      <p:cxnSp>
        <p:nvCxnSpPr>
          <p:cNvPr id="21" name="Connector 21"/>
          <p:cNvCxnSpPr/>
          <p:nvPr/>
        </p:nvCxnSpPr>
        <p:spPr>
          <a:xfrm rot="5171155">
            <a:off x="1111250" y="4051511"/>
            <a:ext cx="190500" cy="12700"/>
          </a:xfrm>
          <a:prstGeom prst="straightConnector1">
            <a:avLst/>
          </a:prstGeom>
          <a:solidFill>
            <a:srgbClr val="DEE0E3">
              <a:alpha val="100000"/>
            </a:srgbClr>
          </a:solidFill>
          <a:ln w="25400" cap="flat" cmpd="sng">
            <a:solidFill>
              <a:srgbClr val="5091C3">
                <a:alpha val="100000"/>
              </a:srgbClr>
            </a:solidFill>
            <a:prstDash val="solid"/>
            <a:round/>
            <a:headEnd type="none" w="lg" len="lg"/>
            <a:tailEnd type="none" w="lg" len="lg"/>
          </a:ln>
        </p:spPr>
      </p:cxnSp>
      <p:sp>
        <p:nvSpPr>
          <p:cNvPr id="22" name="AutoShape 22"/>
          <p:cNvSpPr/>
          <p:nvPr/>
        </p:nvSpPr>
        <p:spPr>
          <a:xfrm>
            <a:off x="1016000" y="4152900"/>
            <a:ext cx="381000" cy="381000"/>
          </a:xfrm>
          <a:prstGeom prst="roundRect">
            <a:avLst>
              <a:gd name="adj" fmla="val 0"/>
            </a:avLst>
          </a:prstGeom>
          <a:solidFill>
            <a:srgbClr val="64A0C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16000" y="4152900"/>
            <a:ext cx="381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FFFFFF"/>
                </a:solidFill>
                <a:latin typeface="Noto Serif SC"/>
                <a:ea typeface="Noto Serif SC"/>
                <a:cs typeface="Noto Serif SC"/>
                <a:sym typeface="Noto Serif SC"/>
              </a:rPr>
              <a:t>5</a:t>
            </a:r>
            <a:endParaRPr lang="en-US" sz="1100"/>
          </a:p>
        </p:txBody>
      </p:sp>
      <p:sp>
        <p:nvSpPr>
          <p:cNvPr id="24" name="AutoShape 24"/>
          <p:cNvSpPr/>
          <p:nvPr/>
        </p:nvSpPr>
        <p:spPr>
          <a:xfrm>
            <a:off x="1524000" y="41529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A3A3A"/>
                </a:solidFill>
                <a:latin typeface="Noto Serif SC"/>
                <a:ea typeface="Noto Serif SC"/>
                <a:cs typeface="Noto Serif SC"/>
                <a:sym typeface="Noto Serif SC"/>
              </a:rPr>
              <a:t>设计基线方案与实验任务集</a:t>
            </a:r>
            <a:endParaRPr lang="en-US" sz="1100"/>
          </a:p>
        </p:txBody>
      </p:sp>
      <p:cxnSp>
        <p:nvCxnSpPr>
          <p:cNvPr id="25" name="Connector 25"/>
          <p:cNvCxnSpPr/>
          <p:nvPr/>
        </p:nvCxnSpPr>
        <p:spPr>
          <a:xfrm rot="5171155">
            <a:off x="1111250" y="4661111"/>
            <a:ext cx="190500" cy="12700"/>
          </a:xfrm>
          <a:prstGeom prst="straightConnector1">
            <a:avLst/>
          </a:prstGeom>
          <a:solidFill>
            <a:srgbClr val="DEE0E3">
              <a:alpha val="100000"/>
            </a:srgbClr>
          </a:solidFill>
          <a:ln w="25400" cap="flat" cmpd="sng">
            <a:solidFill>
              <a:srgbClr val="64A0CD">
                <a:alpha val="100000"/>
              </a:srgbClr>
            </a:solidFill>
            <a:prstDash val="solid"/>
            <a:round/>
            <a:headEnd type="none" w="lg" len="lg"/>
            <a:tailEnd type="none" w="lg" len="lg"/>
          </a:ln>
        </p:spPr>
      </p:cxnSp>
      <p:sp>
        <p:nvSpPr>
          <p:cNvPr id="26" name="AutoShape 26"/>
          <p:cNvSpPr/>
          <p:nvPr/>
        </p:nvSpPr>
        <p:spPr>
          <a:xfrm>
            <a:off x="1016000" y="4762500"/>
            <a:ext cx="381000" cy="381000"/>
          </a:xfrm>
          <a:prstGeom prst="roundRect">
            <a:avLst>
              <a:gd name="adj" fmla="val 0"/>
            </a:avLst>
          </a:prstGeom>
          <a:solidFill>
            <a:srgbClr val="78AAD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1016000" y="4762500"/>
            <a:ext cx="381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FFFFFF"/>
                </a:solidFill>
                <a:latin typeface="Noto Serif SC"/>
                <a:ea typeface="Noto Serif SC"/>
                <a:cs typeface="Noto Serif SC"/>
                <a:sym typeface="Noto Serif SC"/>
              </a:rPr>
              <a:t>6</a:t>
            </a:r>
            <a:endParaRPr lang="en-US" sz="1100"/>
          </a:p>
        </p:txBody>
      </p:sp>
      <p:sp>
        <p:nvSpPr>
          <p:cNvPr id="28" name="AutoShape 28"/>
          <p:cNvSpPr/>
          <p:nvPr/>
        </p:nvSpPr>
        <p:spPr>
          <a:xfrm>
            <a:off x="1524000" y="4762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A3A3A"/>
                </a:solidFill>
                <a:latin typeface="Noto Serif SC"/>
                <a:ea typeface="Noto Serif SC"/>
                <a:cs typeface="Noto Serif SC"/>
                <a:sym typeface="Noto Serif SC"/>
              </a:rPr>
              <a:t>对比实验、案例验证与误差分析</a:t>
            </a:r>
            <a:endParaRPr lang="en-US" sz="1100"/>
          </a:p>
        </p:txBody>
      </p:sp>
      <p:cxnSp>
        <p:nvCxnSpPr>
          <p:cNvPr id="29" name="Connector 29"/>
          <p:cNvCxnSpPr/>
          <p:nvPr/>
        </p:nvCxnSpPr>
        <p:spPr>
          <a:xfrm rot="5171155">
            <a:off x="1111250" y="5270711"/>
            <a:ext cx="190500" cy="12700"/>
          </a:xfrm>
          <a:prstGeom prst="straightConnector1">
            <a:avLst/>
          </a:prstGeom>
          <a:solidFill>
            <a:srgbClr val="DEE0E3">
              <a:alpha val="100000"/>
            </a:srgbClr>
          </a:solidFill>
          <a:ln w="25400" cap="flat" cmpd="sng">
            <a:solidFill>
              <a:srgbClr val="78AAD2">
                <a:alpha val="100000"/>
              </a:srgbClr>
            </a:solidFill>
            <a:prstDash val="solid"/>
            <a:round/>
            <a:headEnd type="none" w="lg" len="lg"/>
            <a:tailEnd type="none" w="lg" len="lg"/>
          </a:ln>
        </p:spPr>
      </p:cxnSp>
      <p:sp>
        <p:nvSpPr>
          <p:cNvPr id="30" name="AutoShape 30"/>
          <p:cNvSpPr/>
          <p:nvPr/>
        </p:nvSpPr>
        <p:spPr>
          <a:xfrm>
            <a:off x="1016000" y="5372100"/>
            <a:ext cx="381000" cy="381000"/>
          </a:xfrm>
          <a:prstGeom prst="roundRect">
            <a:avLst>
              <a:gd name="adj" fmla="val 0"/>
            </a:avLst>
          </a:prstGeom>
          <a:solidFill>
            <a:srgbClr val="C9A96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1016000" y="5372100"/>
            <a:ext cx="381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FFFFFF"/>
                </a:solidFill>
                <a:latin typeface="Noto Serif SC"/>
                <a:ea typeface="Noto Serif SC"/>
                <a:cs typeface="Noto Serif SC"/>
                <a:sym typeface="Noto Serif SC"/>
              </a:rPr>
              <a:t>7</a:t>
            </a:r>
            <a:endParaRPr lang="en-US" sz="1100"/>
          </a:p>
        </p:txBody>
      </p:sp>
      <p:sp>
        <p:nvSpPr>
          <p:cNvPr id="32" name="AutoShape 32"/>
          <p:cNvSpPr/>
          <p:nvPr/>
        </p:nvSpPr>
        <p:spPr>
          <a:xfrm>
            <a:off x="1524000" y="53721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A3A3A"/>
                </a:solidFill>
                <a:latin typeface="Noto Serif SC"/>
                <a:ea typeface="Noto Serif SC"/>
                <a:cs typeface="Noto Serif SC"/>
                <a:sym typeface="Noto Serif SC"/>
              </a:rPr>
              <a:t>总结结论，提出优化方向与应用建议</a:t>
            </a:r>
            <a:endParaRPr lang="en-US" sz="1100"/>
          </a:p>
        </p:txBody>
      </p:sp>
      <p:cxnSp>
        <p:nvCxnSpPr>
          <p:cNvPr id="33" name="Connector 33"/>
          <p:cNvCxnSpPr/>
          <p:nvPr/>
        </p:nvCxnSpPr>
        <p:spPr>
          <a:xfrm rot="5390708">
            <a:off x="3873500" y="3613159"/>
            <a:ext cx="4699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34" name="AutoShape 34"/>
          <p:cNvSpPr/>
          <p:nvPr/>
        </p:nvSpPr>
        <p:spPr>
          <a:xfrm>
            <a:off x="6477000" y="12700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E5A8E"/>
                </a:solidFill>
                <a:latin typeface="Noto Serif SC"/>
                <a:ea typeface="Noto Serif SC"/>
                <a:cs typeface="Noto Serif SC"/>
                <a:sym typeface="Noto Serif SC"/>
              </a:rPr>
              <a:t>数据来源（四类）</a:t>
            </a:r>
            <a:endParaRPr lang="en-US" sz="1100"/>
          </a:p>
        </p:txBody>
      </p:sp>
      <p:sp>
        <p:nvSpPr>
          <p:cNvPr id="35" name="AutoShape 35"/>
          <p:cNvSpPr/>
          <p:nvPr/>
        </p:nvSpPr>
        <p:spPr>
          <a:xfrm>
            <a:off x="6477000" y="1714500"/>
            <a:ext cx="4699000" cy="952500"/>
          </a:xfrm>
          <a:prstGeom prst="roundRect">
            <a:avLst>
              <a:gd name="adj" fmla="val 0"/>
            </a:avLst>
          </a:prstGeom>
          <a:solidFill>
            <a:srgbClr val="FFFFFF">
              <a:alpha val="100000"/>
            </a:srgbClr>
          </a:solidFill>
          <a:ln w="12700" cap="flat" cmpd="sng">
            <a:solidFill>
              <a:srgbClr val="1E5A8E">
                <a:alpha val="100000"/>
              </a:srgbClr>
            </a:solid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6667500" y="1803400"/>
            <a:ext cx="4318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E5A8E"/>
                </a:solidFill>
                <a:latin typeface="Noto Serif SC"/>
                <a:ea typeface="Noto Serif SC"/>
                <a:cs typeface="Noto Serif SC"/>
                <a:sym typeface="Noto Serif SC"/>
              </a:rPr>
              <a:t>公开结构化数据集</a:t>
            </a:r>
            <a:endParaRPr lang="en-US" sz="1100"/>
          </a:p>
        </p:txBody>
      </p:sp>
      <p:sp>
        <p:nvSpPr>
          <p:cNvPr id="37" name="AutoShape 37"/>
          <p:cNvSpPr/>
          <p:nvPr/>
        </p:nvSpPr>
        <p:spPr>
          <a:xfrm>
            <a:off x="6667500" y="2095500"/>
            <a:ext cx="4318000" cy="508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505050"/>
                </a:solidFill>
                <a:latin typeface="Noto Serif SC"/>
                <a:ea typeface="Noto Serif SC"/>
                <a:cs typeface="Noto Serif SC"/>
                <a:sym typeface="Noto Serif SC"/>
              </a:rPr>
              <a:t>公开零售/电商交易数据集，清洗建模为订单事实表、客户维表、商品维表、时间维表等经营分析常见结构。</a:t>
            </a:r>
            <a:endParaRPr lang="en-US" sz="1100"/>
          </a:p>
        </p:txBody>
      </p:sp>
      <p:sp>
        <p:nvSpPr>
          <p:cNvPr id="38" name="AutoShape 38"/>
          <p:cNvSpPr/>
          <p:nvPr/>
        </p:nvSpPr>
        <p:spPr>
          <a:xfrm>
            <a:off x="6477000" y="2794000"/>
            <a:ext cx="4699000" cy="952500"/>
          </a:xfrm>
          <a:prstGeom prst="roundRect">
            <a:avLst>
              <a:gd name="adj" fmla="val 0"/>
            </a:avLst>
          </a:prstGeom>
          <a:solidFill>
            <a:srgbClr val="FFFFFF">
              <a:alpha val="100000"/>
            </a:srgbClr>
          </a:solidFill>
          <a:ln w="12700" cap="flat" cmpd="sng">
            <a:solidFill>
              <a:srgbClr val="2D6EA5">
                <a:alpha val="100000"/>
              </a:srgbClr>
            </a:solid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6667500" y="2882900"/>
            <a:ext cx="4318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D6EA5"/>
                </a:solidFill>
                <a:latin typeface="Noto Serif SC"/>
                <a:ea typeface="Noto Serif SC"/>
                <a:cs typeface="Noto Serif SC"/>
                <a:sym typeface="Noto Serif SC"/>
              </a:rPr>
              <a:t>公开Text-to-SQL评测资源</a:t>
            </a:r>
            <a:endParaRPr lang="en-US" sz="1100"/>
          </a:p>
        </p:txBody>
      </p:sp>
      <p:sp>
        <p:nvSpPr>
          <p:cNvPr id="40" name="AutoShape 40"/>
          <p:cNvSpPr/>
          <p:nvPr/>
        </p:nvSpPr>
        <p:spPr>
          <a:xfrm>
            <a:off x="6667500" y="3175000"/>
            <a:ext cx="4318000" cy="508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505050"/>
                </a:solidFill>
                <a:latin typeface="Noto Serif SC"/>
                <a:ea typeface="Noto Serif SC"/>
                <a:cs typeface="Noto Serif SC"/>
                <a:sym typeface="Noto Serif SC"/>
              </a:rPr>
              <a:t>参考Spider、BIRD等公开基准的任务形式与评测方法，验证自然语言到数据库执行链路的基本能力。</a:t>
            </a:r>
            <a:endParaRPr lang="en-US" sz="1100"/>
          </a:p>
        </p:txBody>
      </p:sp>
      <p:sp>
        <p:nvSpPr>
          <p:cNvPr id="41" name="AutoShape 41"/>
          <p:cNvSpPr/>
          <p:nvPr/>
        </p:nvSpPr>
        <p:spPr>
          <a:xfrm>
            <a:off x="6477000" y="3873500"/>
            <a:ext cx="4699000" cy="952500"/>
          </a:xfrm>
          <a:prstGeom prst="roundRect">
            <a:avLst>
              <a:gd name="adj" fmla="val 0"/>
            </a:avLst>
          </a:prstGeom>
          <a:solidFill>
            <a:srgbClr val="FFFFFF">
              <a:alpha val="100000"/>
            </a:srgbClr>
          </a:solidFill>
          <a:ln w="12700" cap="flat" cmpd="sng">
            <a:solidFill>
              <a:srgbClr val="3C7DB4">
                <a:alpha val="100000"/>
              </a:srgbClr>
            </a:solid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6667500" y="3962400"/>
            <a:ext cx="4318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C7DB4"/>
                </a:solidFill>
                <a:latin typeface="Noto Serif SC"/>
                <a:ea typeface="Noto Serif SC"/>
                <a:cs typeface="Noto Serif SC"/>
                <a:sym typeface="Noto Serif SC"/>
              </a:rPr>
              <a:t>自建指标语义知识库</a:t>
            </a:r>
            <a:endParaRPr lang="en-US" sz="1100"/>
          </a:p>
        </p:txBody>
      </p:sp>
      <p:sp>
        <p:nvSpPr>
          <p:cNvPr id="43" name="AutoShape 43"/>
          <p:cNvSpPr/>
          <p:nvPr/>
        </p:nvSpPr>
        <p:spPr>
          <a:xfrm>
            <a:off x="6667500" y="4254500"/>
            <a:ext cx="4318000" cy="508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505050"/>
                </a:solidFill>
                <a:latin typeface="Noto Serif SC"/>
                <a:ea typeface="Noto Serif SC"/>
                <a:cs typeface="Noto Serif SC"/>
                <a:sym typeface="Noto Serif SC"/>
              </a:rPr>
              <a:t>基于经营分析常见指标自行构建，含指标名称、业务定义、计算公式、别名同义词、维度约束与解释模板，不涉及企业敏感数据。</a:t>
            </a:r>
            <a:endParaRPr lang="en-US" sz="1100"/>
          </a:p>
        </p:txBody>
      </p:sp>
      <p:sp>
        <p:nvSpPr>
          <p:cNvPr id="44" name="AutoShape 44"/>
          <p:cNvSpPr/>
          <p:nvPr/>
        </p:nvSpPr>
        <p:spPr>
          <a:xfrm>
            <a:off x="6477000" y="4953000"/>
            <a:ext cx="4699000" cy="952500"/>
          </a:xfrm>
          <a:prstGeom prst="roundRect">
            <a:avLst>
              <a:gd name="adj" fmla="val 0"/>
            </a:avLst>
          </a:prstGeom>
          <a:solidFill>
            <a:srgbClr val="FFFFFF">
              <a:alpha val="100000"/>
            </a:srgbClr>
          </a:solidFill>
          <a:ln w="12700" cap="flat" cmpd="sng">
            <a:solidFill>
              <a:srgbClr val="C9A961">
                <a:alpha val="100000"/>
              </a:srgbClr>
            </a:solidFill>
            <a:prstDash val="solid"/>
            <a:round/>
          </a:ln>
        </p:spPr>
        <p:txBody>
          <a:bodyPr vert="horz" wrap="square" lIns="63500" tIns="63500" rIns="63500" bIns="63500" rtlCol="0" anchor="ctr"/>
          <a:lstStyle/>
          <a:p>
            <a:pPr algn="ctr">
              <a:defRPr/>
            </a:pPr>
            <a:endParaRPr/>
          </a:p>
        </p:txBody>
      </p:sp>
      <p:sp>
        <p:nvSpPr>
          <p:cNvPr id="45" name="AutoShape 45"/>
          <p:cNvSpPr/>
          <p:nvPr/>
        </p:nvSpPr>
        <p:spPr>
          <a:xfrm>
            <a:off x="6667500" y="5041900"/>
            <a:ext cx="4318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8B6D39"/>
                </a:solidFill>
                <a:latin typeface="Noto Serif SC"/>
                <a:ea typeface="Noto Serif SC"/>
                <a:cs typeface="Noto Serif SC"/>
                <a:sym typeface="Noto Serif SC"/>
              </a:rPr>
              <a:t>自建经营分析任务集</a:t>
            </a:r>
            <a:endParaRPr lang="en-US" sz="1100"/>
          </a:p>
        </p:txBody>
      </p:sp>
      <p:sp>
        <p:nvSpPr>
          <p:cNvPr id="46" name="AutoShape 46"/>
          <p:cNvSpPr/>
          <p:nvPr/>
        </p:nvSpPr>
        <p:spPr>
          <a:xfrm>
            <a:off x="6667500" y="5334000"/>
            <a:ext cx="4318000" cy="508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100" b="0" i="0" u="none" strike="noStrike">
                <a:solidFill>
                  <a:srgbClr val="505050"/>
                </a:solidFill>
                <a:latin typeface="Noto Serif SC"/>
                <a:ea typeface="Noto Serif SC"/>
                <a:cs typeface="Noto Serif SC"/>
                <a:sym typeface="Noto Serif SC"/>
              </a:rPr>
              <a:t>围绕销售趋势、客户分层、复购率、异常归因等高频场景设计测试问题，部分任务人工标注以支撑系统评测。</a:t>
            </a:r>
            <a:endParaRPr lang="en-US" sz="1100"/>
          </a:p>
        </p:txBody>
      </p:sp>
      <p:sp>
        <p:nvSpPr>
          <p:cNvPr id="47" name="AutoShape 47"/>
          <p:cNvSpPr/>
          <p:nvPr/>
        </p:nvSpPr>
        <p:spPr>
          <a:xfrm>
            <a:off x="1016000" y="6286500"/>
            <a:ext cx="10160000" cy="3175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888888"/>
                </a:solidFill>
                <a:latin typeface="Noto Serif SC"/>
                <a:ea typeface="Noto Serif SC"/>
                <a:cs typeface="Noto Serif SC"/>
                <a:sym typeface="Noto Serif SC"/>
              </a:rPr>
              <a:t>08 / 技术路线与数据来源</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3E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76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5A8E"/>
                </a:solidFill>
                <a:latin typeface="Noto Serif SC"/>
                <a:ea typeface="Noto Serif SC"/>
                <a:cs typeface="Noto Serif SC"/>
                <a:sym typeface="Noto Serif SC"/>
              </a:rPr>
              <a:t>09</a:t>
            </a:r>
            <a:endParaRPr lang="en-US" sz="1100"/>
          </a:p>
        </p:txBody>
      </p:sp>
      <p:sp>
        <p:nvSpPr>
          <p:cNvPr id="3" name="AutoShape 3"/>
          <p:cNvSpPr/>
          <p:nvPr/>
        </p:nvSpPr>
        <p:spPr>
          <a:xfrm>
            <a:off x="1651000" y="508000"/>
            <a:ext cx="635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A2E42"/>
                </a:solidFill>
                <a:latin typeface="Noto Serif SC"/>
                <a:ea typeface="Noto Serif SC"/>
                <a:cs typeface="Noto Serif SC"/>
                <a:sym typeface="Noto Serif SC"/>
              </a:rPr>
              <a:t>进度安排与预期成果</a:t>
            </a:r>
            <a:endParaRPr lang="en-US" sz="1100"/>
          </a:p>
        </p:txBody>
      </p:sp>
      <p:cxnSp>
        <p:nvCxnSpPr>
          <p:cNvPr id="4" name="Connector 4"/>
          <p:cNvCxnSpPr/>
          <p:nvPr/>
        </p:nvCxnSpPr>
        <p:spPr>
          <a:xfrm rot="-4297">
            <a:off x="1016004" y="1073150"/>
            <a:ext cx="10160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5" name="AutoShape 5"/>
          <p:cNvSpPr/>
          <p:nvPr/>
        </p:nvSpPr>
        <p:spPr>
          <a:xfrm>
            <a:off x="1016000" y="12700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E5A8E"/>
                </a:solidFill>
                <a:latin typeface="Noto Serif SC"/>
                <a:ea typeface="Noto Serif SC"/>
                <a:cs typeface="Noto Serif SC"/>
                <a:sym typeface="Noto Serif SC"/>
              </a:rPr>
              <a:t>时间进度（2026.08 — 2027.05）</a:t>
            </a:r>
            <a:endParaRPr lang="en-US" sz="1100"/>
          </a:p>
        </p:txBody>
      </p:sp>
      <p:cxnSp>
        <p:nvCxnSpPr>
          <p:cNvPr id="6" name="Connector 6"/>
          <p:cNvCxnSpPr/>
          <p:nvPr/>
        </p:nvCxnSpPr>
        <p:spPr>
          <a:xfrm rot="5388910">
            <a:off x="-698500" y="3930660"/>
            <a:ext cx="3937000" cy="12700"/>
          </a:xfrm>
          <a:prstGeom prst="straightConnector1">
            <a:avLst/>
          </a:prstGeom>
          <a:solidFill>
            <a:srgbClr val="DEE0E3">
              <a:alpha val="100000"/>
            </a:srgbClr>
          </a:solidFill>
          <a:ln w="25400" cap="flat" cmpd="sng">
            <a:solidFill>
              <a:srgbClr val="1E5A8E">
                <a:alpha val="100000"/>
              </a:srgbClr>
            </a:solidFill>
            <a:prstDash val="solid"/>
            <a:round/>
            <a:headEnd type="none" w="lg" len="lg"/>
            <a:tailEnd type="none" w="lg" len="lg"/>
          </a:ln>
        </p:spPr>
      </p:cxnSp>
      <p:sp>
        <p:nvSpPr>
          <p:cNvPr id="7" name="AutoShape 7"/>
          <p:cNvSpPr/>
          <p:nvPr/>
        </p:nvSpPr>
        <p:spPr>
          <a:xfrm>
            <a:off x="1168400" y="1879600"/>
            <a:ext cx="203200" cy="203200"/>
          </a:xfrm>
          <a:prstGeom prst="ellipse">
            <a:avLst/>
          </a:prstGeom>
          <a:solidFill>
            <a:srgbClr val="1E5A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587500" y="1841500"/>
            <a:ext cx="127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1E5A8E"/>
                </a:solidFill>
                <a:latin typeface="Noto Serif SC"/>
                <a:ea typeface="Noto Serif SC"/>
                <a:cs typeface="Noto Serif SC"/>
                <a:sym typeface="Noto Serif SC"/>
              </a:rPr>
              <a:t>2026.08中下旬</a:t>
            </a:r>
            <a:endParaRPr lang="en-US" sz="1100"/>
          </a:p>
        </p:txBody>
      </p:sp>
      <p:sp>
        <p:nvSpPr>
          <p:cNvPr id="9" name="AutoShape 9"/>
          <p:cNvSpPr/>
          <p:nvPr/>
        </p:nvSpPr>
        <p:spPr>
          <a:xfrm>
            <a:off x="1587500" y="2120900"/>
            <a:ext cx="4254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05050"/>
                </a:solidFill>
                <a:latin typeface="Noto Serif SC"/>
                <a:ea typeface="Noto Serif SC"/>
                <a:cs typeface="Noto Serif SC"/>
                <a:sym typeface="Noto Serif SC"/>
              </a:rPr>
              <a:t>选题确定、文献收集、研究框架梳理与开题报告撰写提交</a:t>
            </a:r>
            <a:endParaRPr lang="en-US" sz="1100"/>
          </a:p>
        </p:txBody>
      </p:sp>
      <p:sp>
        <p:nvSpPr>
          <p:cNvPr id="10" name="AutoShape 10"/>
          <p:cNvSpPr/>
          <p:nvPr/>
        </p:nvSpPr>
        <p:spPr>
          <a:xfrm>
            <a:off x="1168400" y="2514600"/>
            <a:ext cx="203200" cy="203200"/>
          </a:xfrm>
          <a:prstGeom prst="ellipse">
            <a:avLst/>
          </a:prstGeom>
          <a:solidFill>
            <a:srgbClr val="2D6E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587500" y="2476500"/>
            <a:ext cx="127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2D6EA5"/>
                </a:solidFill>
                <a:latin typeface="Noto Serif SC"/>
                <a:ea typeface="Noto Serif SC"/>
                <a:cs typeface="Noto Serif SC"/>
                <a:sym typeface="Noto Serif SC"/>
              </a:rPr>
              <a:t>2026.09—10</a:t>
            </a:r>
            <a:endParaRPr lang="en-US" sz="1100"/>
          </a:p>
        </p:txBody>
      </p:sp>
      <p:sp>
        <p:nvSpPr>
          <p:cNvPr id="12" name="AutoShape 12"/>
          <p:cNvSpPr/>
          <p:nvPr/>
        </p:nvSpPr>
        <p:spPr>
          <a:xfrm>
            <a:off x="1587500" y="2730500"/>
            <a:ext cx="4254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000" b="0" i="0" u="none" strike="noStrike">
                <a:solidFill>
                  <a:srgbClr val="505050"/>
                </a:solidFill>
                <a:latin typeface="Noto Serif SC"/>
                <a:ea typeface="Noto Serif SC"/>
                <a:cs typeface="Noto Serif SC"/>
                <a:sym typeface="Noto Serif SC"/>
              </a:rPr>
              <a:t>深入阅读文献，细化系统需求与技术方案，完成指标语义知识库与实验数据方案设计</a:t>
            </a:r>
            <a:endParaRPr lang="en-US" sz="1100"/>
          </a:p>
        </p:txBody>
      </p:sp>
      <p:sp>
        <p:nvSpPr>
          <p:cNvPr id="13" name="AutoShape 13"/>
          <p:cNvSpPr/>
          <p:nvPr/>
        </p:nvSpPr>
        <p:spPr>
          <a:xfrm>
            <a:off x="1168400" y="3149600"/>
            <a:ext cx="203200" cy="203200"/>
          </a:xfrm>
          <a:prstGeom prst="ellipse">
            <a:avLst/>
          </a:prstGeom>
          <a:solidFill>
            <a:srgbClr val="3C7DB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587500" y="3111500"/>
            <a:ext cx="127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3C7DB4"/>
                </a:solidFill>
                <a:latin typeface="Noto Serif SC"/>
                <a:ea typeface="Noto Serif SC"/>
                <a:cs typeface="Noto Serif SC"/>
                <a:sym typeface="Noto Serif SC"/>
              </a:rPr>
              <a:t>2026.11—12</a:t>
            </a:r>
            <a:endParaRPr lang="en-US" sz="1100"/>
          </a:p>
        </p:txBody>
      </p:sp>
      <p:sp>
        <p:nvSpPr>
          <p:cNvPr id="15" name="AutoShape 15"/>
          <p:cNvSpPr/>
          <p:nvPr/>
        </p:nvSpPr>
        <p:spPr>
          <a:xfrm>
            <a:off x="1587500" y="3390900"/>
            <a:ext cx="4254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05050"/>
                </a:solidFill>
                <a:latin typeface="Noto Serif SC"/>
                <a:ea typeface="Noto Serif SC"/>
                <a:cs typeface="Noto Serif SC"/>
                <a:sym typeface="Noto Serif SC"/>
              </a:rPr>
              <a:t>实验数据清洗、表结构设计、指标规则构建与Agent原型系统开发</a:t>
            </a:r>
            <a:endParaRPr lang="en-US" sz="1100"/>
          </a:p>
        </p:txBody>
      </p:sp>
      <p:sp>
        <p:nvSpPr>
          <p:cNvPr id="16" name="AutoShape 16"/>
          <p:cNvSpPr/>
          <p:nvPr/>
        </p:nvSpPr>
        <p:spPr>
          <a:xfrm>
            <a:off x="1168400" y="3784600"/>
            <a:ext cx="203200" cy="203200"/>
          </a:xfrm>
          <a:prstGeom prst="ellipse">
            <a:avLst/>
          </a:prstGeom>
          <a:solidFill>
            <a:srgbClr val="5091C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1587500" y="3746500"/>
            <a:ext cx="127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5091C3"/>
                </a:solidFill>
                <a:latin typeface="Noto Serif SC"/>
                <a:ea typeface="Noto Serif SC"/>
                <a:cs typeface="Noto Serif SC"/>
                <a:sym typeface="Noto Serif SC"/>
              </a:rPr>
              <a:t>2027.01—02</a:t>
            </a:r>
            <a:endParaRPr lang="en-US" sz="1100"/>
          </a:p>
        </p:txBody>
      </p:sp>
      <p:sp>
        <p:nvSpPr>
          <p:cNvPr id="18" name="AutoShape 18"/>
          <p:cNvSpPr/>
          <p:nvPr/>
        </p:nvSpPr>
        <p:spPr>
          <a:xfrm>
            <a:off x="1587500" y="4025900"/>
            <a:ext cx="4254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05050"/>
                </a:solidFill>
                <a:latin typeface="Noto Serif SC"/>
                <a:ea typeface="Noto Serif SC"/>
                <a:cs typeface="Noto Serif SC"/>
                <a:sym typeface="Noto Serif SC"/>
              </a:rPr>
              <a:t>系统联调与初步实验，构建任务集并进行基线对比测试</a:t>
            </a:r>
            <a:endParaRPr lang="en-US" sz="1100"/>
          </a:p>
        </p:txBody>
      </p:sp>
      <p:sp>
        <p:nvSpPr>
          <p:cNvPr id="19" name="AutoShape 19"/>
          <p:cNvSpPr/>
          <p:nvPr/>
        </p:nvSpPr>
        <p:spPr>
          <a:xfrm>
            <a:off x="1168400" y="4419600"/>
            <a:ext cx="203200" cy="203200"/>
          </a:xfrm>
          <a:prstGeom prst="ellipse">
            <a:avLst/>
          </a:prstGeom>
          <a:solidFill>
            <a:srgbClr val="64A0C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587500" y="4381500"/>
            <a:ext cx="127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64A0CD"/>
                </a:solidFill>
                <a:latin typeface="Noto Serif SC"/>
                <a:ea typeface="Noto Serif SC"/>
                <a:cs typeface="Noto Serif SC"/>
                <a:sym typeface="Noto Serif SC"/>
              </a:rPr>
              <a:t>2027.03</a:t>
            </a:r>
            <a:endParaRPr lang="en-US" sz="1100"/>
          </a:p>
        </p:txBody>
      </p:sp>
      <p:sp>
        <p:nvSpPr>
          <p:cNvPr id="21" name="AutoShape 21"/>
          <p:cNvSpPr/>
          <p:nvPr/>
        </p:nvSpPr>
        <p:spPr>
          <a:xfrm>
            <a:off x="1587500" y="4660900"/>
            <a:ext cx="4254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05050"/>
                </a:solidFill>
                <a:latin typeface="Noto Serif SC"/>
                <a:ea typeface="Noto Serif SC"/>
                <a:cs typeface="Noto Serif SC"/>
                <a:sym typeface="Noto Serif SC"/>
              </a:rPr>
              <a:t>实验结果分析、误差分析与案例验证，撰写论文核心章节</a:t>
            </a:r>
            <a:endParaRPr lang="en-US" sz="1100"/>
          </a:p>
        </p:txBody>
      </p:sp>
      <p:sp>
        <p:nvSpPr>
          <p:cNvPr id="22" name="AutoShape 22"/>
          <p:cNvSpPr/>
          <p:nvPr/>
        </p:nvSpPr>
        <p:spPr>
          <a:xfrm>
            <a:off x="1168400" y="5054600"/>
            <a:ext cx="203200" cy="203200"/>
          </a:xfrm>
          <a:prstGeom prst="ellipse">
            <a:avLst/>
          </a:prstGeom>
          <a:solidFill>
            <a:srgbClr val="78AAD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587500" y="5016500"/>
            <a:ext cx="127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4678AA"/>
                </a:solidFill>
                <a:latin typeface="Noto Serif SC"/>
                <a:ea typeface="Noto Serif SC"/>
                <a:cs typeface="Noto Serif SC"/>
                <a:sym typeface="Noto Serif SC"/>
              </a:rPr>
              <a:t>2027.04</a:t>
            </a:r>
            <a:endParaRPr lang="en-US" sz="1100"/>
          </a:p>
        </p:txBody>
      </p:sp>
      <p:sp>
        <p:nvSpPr>
          <p:cNvPr id="24" name="AutoShape 24"/>
          <p:cNvSpPr/>
          <p:nvPr/>
        </p:nvSpPr>
        <p:spPr>
          <a:xfrm>
            <a:off x="1587500" y="5295900"/>
            <a:ext cx="4254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05050"/>
                </a:solidFill>
                <a:latin typeface="Noto Serif SC"/>
                <a:ea typeface="Noto Serif SC"/>
                <a:cs typeface="Noto Serif SC"/>
                <a:sym typeface="Noto Serif SC"/>
              </a:rPr>
              <a:t>完成论文初稿，依据导师意见修改完善</a:t>
            </a:r>
            <a:endParaRPr lang="en-US" sz="1100"/>
          </a:p>
        </p:txBody>
      </p:sp>
      <p:sp>
        <p:nvSpPr>
          <p:cNvPr id="25" name="AutoShape 25"/>
          <p:cNvSpPr/>
          <p:nvPr/>
        </p:nvSpPr>
        <p:spPr>
          <a:xfrm>
            <a:off x="1168400" y="5689600"/>
            <a:ext cx="203200" cy="203200"/>
          </a:xfrm>
          <a:prstGeom prst="ellipse">
            <a:avLst/>
          </a:prstGeom>
          <a:solidFill>
            <a:srgbClr val="C9A96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1587500" y="5651500"/>
            <a:ext cx="127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a:solidFill>
                  <a:srgbClr val="8B6D39"/>
                </a:solidFill>
                <a:latin typeface="Noto Serif SC"/>
                <a:ea typeface="Noto Serif SC"/>
                <a:cs typeface="Noto Serif SC"/>
                <a:sym typeface="Noto Serif SC"/>
              </a:rPr>
              <a:t>2027.05</a:t>
            </a:r>
            <a:endParaRPr lang="en-US" sz="1100"/>
          </a:p>
        </p:txBody>
      </p:sp>
      <p:sp>
        <p:nvSpPr>
          <p:cNvPr id="27" name="AutoShape 27"/>
          <p:cNvSpPr/>
          <p:nvPr/>
        </p:nvSpPr>
        <p:spPr>
          <a:xfrm>
            <a:off x="1587500" y="5930900"/>
            <a:ext cx="4254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505050"/>
                </a:solidFill>
                <a:latin typeface="Noto Serif SC"/>
                <a:ea typeface="Noto Serif SC"/>
                <a:cs typeface="Noto Serif SC"/>
                <a:sym typeface="Noto Serif SC"/>
              </a:rPr>
              <a:t>完成定稿、查重与答辩准备</a:t>
            </a:r>
            <a:endParaRPr lang="en-US" sz="1100"/>
          </a:p>
        </p:txBody>
      </p:sp>
      <p:cxnSp>
        <p:nvCxnSpPr>
          <p:cNvPr id="28" name="Connector 28"/>
          <p:cNvCxnSpPr/>
          <p:nvPr/>
        </p:nvCxnSpPr>
        <p:spPr>
          <a:xfrm rot="5390708">
            <a:off x="3873500" y="3613159"/>
            <a:ext cx="4699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29" name="AutoShape 29"/>
          <p:cNvSpPr/>
          <p:nvPr/>
        </p:nvSpPr>
        <p:spPr>
          <a:xfrm>
            <a:off x="6477000" y="12700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E5A8E"/>
                </a:solidFill>
                <a:latin typeface="Noto Serif SC"/>
                <a:ea typeface="Noto Serif SC"/>
                <a:cs typeface="Noto Serif SC"/>
                <a:sym typeface="Noto Serif SC"/>
              </a:rPr>
              <a:t>预期成果（四项）</a:t>
            </a:r>
            <a:endParaRPr lang="en-US" sz="1100"/>
          </a:p>
        </p:txBody>
      </p:sp>
      <p:sp>
        <p:nvSpPr>
          <p:cNvPr id="30" name="AutoShape 30"/>
          <p:cNvSpPr/>
          <p:nvPr/>
        </p:nvSpPr>
        <p:spPr>
          <a:xfrm>
            <a:off x="6477000" y="1778000"/>
            <a:ext cx="4699000" cy="889000"/>
          </a:xfrm>
          <a:prstGeom prst="roundRect">
            <a:avLst>
              <a:gd name="adj" fmla="val 0"/>
            </a:avLst>
          </a:prstGeom>
          <a:solidFill>
            <a:srgbClr val="1E5A8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6667500" y="1879600"/>
            <a:ext cx="431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erif SC"/>
                <a:ea typeface="Noto Serif SC"/>
                <a:cs typeface="Noto Serif SC"/>
                <a:sym typeface="Noto Serif SC"/>
              </a:rPr>
              <a:t>成果一：毕业论文</a:t>
            </a:r>
            <a:endParaRPr lang="en-US" sz="1100"/>
          </a:p>
        </p:txBody>
      </p:sp>
      <p:sp>
        <p:nvSpPr>
          <p:cNvPr id="32" name="AutoShape 32"/>
          <p:cNvSpPr/>
          <p:nvPr/>
        </p:nvSpPr>
        <p:spPr>
          <a:xfrm>
            <a:off x="6667500" y="21971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00" b="0" i="0" u="none" strike="noStrike">
                <a:solidFill>
                  <a:srgbClr val="D2E6F5"/>
                </a:solidFill>
                <a:latin typeface="Noto Serif SC"/>
                <a:ea typeface="Noto Serif SC"/>
                <a:cs typeface="Noto Serif SC"/>
                <a:sym typeface="Noto Serif SC"/>
              </a:rPr>
              <a:t>完成一篇符合本科毕业论文要求的研究论文，含完整的理论、方法、实验与结论。</a:t>
            </a:r>
            <a:endParaRPr lang="en-US" sz="1100"/>
          </a:p>
        </p:txBody>
      </p:sp>
      <p:sp>
        <p:nvSpPr>
          <p:cNvPr id="33" name="AutoShape 33"/>
          <p:cNvSpPr/>
          <p:nvPr/>
        </p:nvSpPr>
        <p:spPr>
          <a:xfrm>
            <a:off x="6477000" y="2794000"/>
            <a:ext cx="4699000" cy="889000"/>
          </a:xfrm>
          <a:prstGeom prst="roundRect">
            <a:avLst>
              <a:gd name="adj" fmla="val 0"/>
            </a:avLst>
          </a:prstGeom>
          <a:solidFill>
            <a:srgbClr val="2D6EA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6667500" y="2895600"/>
            <a:ext cx="431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erif SC"/>
                <a:ea typeface="Noto Serif SC"/>
                <a:cs typeface="Noto Serif SC"/>
                <a:sym typeface="Noto Serif SC"/>
              </a:rPr>
              <a:t>成果二：语义约束建模方案</a:t>
            </a:r>
            <a:endParaRPr lang="en-US" sz="1100"/>
          </a:p>
        </p:txBody>
      </p:sp>
      <p:sp>
        <p:nvSpPr>
          <p:cNvPr id="35" name="AutoShape 35"/>
          <p:cNvSpPr/>
          <p:nvPr/>
        </p:nvSpPr>
        <p:spPr>
          <a:xfrm>
            <a:off x="6667500" y="32131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00" b="0" i="0" u="none" strike="noStrike">
                <a:solidFill>
                  <a:srgbClr val="D2E6F5"/>
                </a:solidFill>
                <a:latin typeface="Noto Serif SC"/>
                <a:ea typeface="Noto Serif SC"/>
                <a:cs typeface="Noto Serif SC"/>
                <a:sym typeface="Noto Serif SC"/>
              </a:rPr>
              <a:t>形成一套面向经营分析场景的指标语义约束建模方案与知识表示方法。</a:t>
            </a:r>
            <a:endParaRPr lang="en-US" sz="1100"/>
          </a:p>
        </p:txBody>
      </p:sp>
      <p:sp>
        <p:nvSpPr>
          <p:cNvPr id="36" name="AutoShape 36"/>
          <p:cNvSpPr/>
          <p:nvPr/>
        </p:nvSpPr>
        <p:spPr>
          <a:xfrm>
            <a:off x="6477000" y="3810000"/>
            <a:ext cx="4699000" cy="889000"/>
          </a:xfrm>
          <a:prstGeom prst="roundRect">
            <a:avLst>
              <a:gd name="adj" fmla="val 0"/>
            </a:avLst>
          </a:prstGeom>
          <a:solidFill>
            <a:srgbClr val="3C7DB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6667500" y="3911600"/>
            <a:ext cx="431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erif SC"/>
                <a:ea typeface="Noto Serif SC"/>
                <a:cs typeface="Noto Serif SC"/>
                <a:sym typeface="Noto Serif SC"/>
              </a:rPr>
              <a:t>成果三：Agent原型系统</a:t>
            </a:r>
            <a:endParaRPr lang="en-US" sz="1100"/>
          </a:p>
        </p:txBody>
      </p:sp>
      <p:sp>
        <p:nvSpPr>
          <p:cNvPr id="38" name="AutoShape 38"/>
          <p:cNvSpPr/>
          <p:nvPr/>
        </p:nvSpPr>
        <p:spPr>
          <a:xfrm>
            <a:off x="6667500" y="42291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00" b="0" i="0" u="none" strike="noStrike">
                <a:solidFill>
                  <a:srgbClr val="DCEBFA"/>
                </a:solidFill>
                <a:latin typeface="Noto Serif SC"/>
                <a:ea typeface="Noto Serif SC"/>
                <a:cs typeface="Noto Serif SC"/>
                <a:sym typeface="Noto Serif SC"/>
              </a:rPr>
              <a:t>实现一个可运行的智能分析Agent原型，覆盖从问题理解到洞察生成的完整流程。</a:t>
            </a:r>
            <a:endParaRPr lang="en-US" sz="1100"/>
          </a:p>
        </p:txBody>
      </p:sp>
      <p:sp>
        <p:nvSpPr>
          <p:cNvPr id="39" name="AutoShape 39"/>
          <p:cNvSpPr/>
          <p:nvPr/>
        </p:nvSpPr>
        <p:spPr>
          <a:xfrm>
            <a:off x="6477000" y="4826000"/>
            <a:ext cx="4699000" cy="889000"/>
          </a:xfrm>
          <a:prstGeom prst="roundRect">
            <a:avLst>
              <a:gd name="adj" fmla="val 0"/>
            </a:avLst>
          </a:prstGeom>
          <a:solidFill>
            <a:srgbClr val="C9A96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40"/>
          <p:cNvSpPr/>
          <p:nvPr/>
        </p:nvSpPr>
        <p:spPr>
          <a:xfrm>
            <a:off x="6667500" y="4927600"/>
            <a:ext cx="431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erif SC"/>
                <a:ea typeface="Noto Serif SC"/>
                <a:cs typeface="Noto Serif SC"/>
                <a:sym typeface="Noto Serif SC"/>
              </a:rPr>
              <a:t>成果四：评测指标体系</a:t>
            </a:r>
            <a:endParaRPr lang="en-US" sz="1100"/>
          </a:p>
        </p:txBody>
      </p:sp>
      <p:sp>
        <p:nvSpPr>
          <p:cNvPr id="41" name="AutoShape 41"/>
          <p:cNvSpPr/>
          <p:nvPr/>
        </p:nvSpPr>
        <p:spPr>
          <a:xfrm>
            <a:off x="6667500" y="52451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100" b="0" i="0" u="none" strike="noStrike">
                <a:solidFill>
                  <a:srgbClr val="FFFFFF"/>
                </a:solidFill>
                <a:latin typeface="Noto Serif SC"/>
                <a:ea typeface="Noto Serif SC"/>
                <a:cs typeface="Noto Serif SC"/>
                <a:sym typeface="Noto Serif SC"/>
              </a:rPr>
              <a:t>建立一套适用于经营分析场景智能Agent的六维评测指标体系与实验方案。</a:t>
            </a:r>
            <a:endParaRPr lang="en-US" sz="1100"/>
          </a:p>
        </p:txBody>
      </p:sp>
      <p:sp>
        <p:nvSpPr>
          <p:cNvPr id="42" name="AutoShape 42"/>
          <p:cNvSpPr/>
          <p:nvPr/>
        </p:nvSpPr>
        <p:spPr>
          <a:xfrm>
            <a:off x="1016000" y="6286500"/>
            <a:ext cx="10160000" cy="3175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888888"/>
                </a:solidFill>
                <a:latin typeface="Noto Serif SC"/>
                <a:ea typeface="Noto Serif SC"/>
                <a:cs typeface="Noto Serif SC"/>
                <a:sym typeface="Noto Serif SC"/>
              </a:rPr>
              <a:t>09 / 进度安排与预期成果</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E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76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5A8E"/>
                </a:solidFill>
                <a:latin typeface="Noto Serif SC"/>
                <a:ea typeface="Noto Serif SC"/>
                <a:cs typeface="Noto Serif SC"/>
                <a:sym typeface="Noto Serif SC"/>
              </a:rPr>
              <a:t>10</a:t>
            </a:r>
            <a:endParaRPr lang="en-US" sz="1100"/>
          </a:p>
        </p:txBody>
      </p:sp>
      <p:sp>
        <p:nvSpPr>
          <p:cNvPr id="3" name="AutoShape 3"/>
          <p:cNvSpPr/>
          <p:nvPr/>
        </p:nvSpPr>
        <p:spPr>
          <a:xfrm>
            <a:off x="1651000" y="5080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A2E42"/>
                </a:solidFill>
                <a:latin typeface="Noto Serif SC"/>
                <a:ea typeface="Noto Serif SC"/>
                <a:cs typeface="Noto Serif SC"/>
                <a:sym typeface="Noto Serif SC"/>
              </a:rPr>
              <a:t>参考文献</a:t>
            </a:r>
            <a:endParaRPr lang="en-US" sz="1100"/>
          </a:p>
        </p:txBody>
      </p:sp>
      <p:cxnSp>
        <p:nvCxnSpPr>
          <p:cNvPr id="4" name="Connector 4"/>
          <p:cNvCxnSpPr/>
          <p:nvPr/>
        </p:nvCxnSpPr>
        <p:spPr>
          <a:xfrm rot="-4297">
            <a:off x="1016004" y="1073150"/>
            <a:ext cx="10160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5" name="AutoShape 5"/>
          <p:cNvSpPr/>
          <p:nvPr/>
        </p:nvSpPr>
        <p:spPr>
          <a:xfrm>
            <a:off x="1016000" y="1333500"/>
            <a:ext cx="4826000" cy="4191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1" i="0" u="none" strike="noStrike">
                <a:solidFill>
                  <a:srgbClr val="1E5A8E"/>
                </a:solidFill>
                <a:latin typeface="Noto Serif SC"/>
                <a:ea typeface="Noto Serif SC"/>
                <a:cs typeface="Noto Serif SC"/>
                <a:sym typeface="Noto Serif SC"/>
              </a:rPr>
              <a:t>[1]</a:t>
            </a:r>
            <a:r>
              <a:rPr lang="en-US" sz="1000" b="0" i="0" u="none" strike="noStrike">
                <a:solidFill>
                  <a:srgbClr val="3C3C3C"/>
                </a:solidFill>
                <a:latin typeface="Noto Serif SC"/>
                <a:ea typeface="Noto Serif SC"/>
                <a:cs typeface="Noto Serif SC"/>
                <a:sym typeface="Noto Serif SC"/>
              </a:rPr>
              <a:t> Liu X, Shen S, Li B, et al. A Survey of Text-to-SQL in the Era of LLMs: Where are we, and where are we going?[J]. IEEE Transactions on Knowledge and Data Engineering, 2025.</a:t>
            </a:r>
            <a:endParaRPr lang="en-US" sz="1100"/>
          </a:p>
          <a:p>
            <a:pPr marL="0" indent="0" algn="l">
              <a:lnSpc>
                <a:spcPct val="125000"/>
              </a:lnSpc>
            </a:pPr>
            <a:r>
              <a:rPr lang="en-US" sz="1000" b="1" i="0" u="none" strike="noStrike">
                <a:solidFill>
                  <a:srgbClr val="1E5A8E"/>
                </a:solidFill>
                <a:latin typeface="Noto Serif SC"/>
                <a:ea typeface="Noto Serif SC"/>
                <a:cs typeface="Noto Serif SC"/>
                <a:sym typeface="Noto Serif SC"/>
              </a:rPr>
              <a:t>[2]</a:t>
            </a:r>
            <a:r>
              <a:rPr lang="en-US" sz="1000" b="0" i="0" u="none" strike="noStrike">
                <a:solidFill>
                  <a:srgbClr val="3C3C3C"/>
                </a:solidFill>
                <a:latin typeface="Noto Serif SC"/>
                <a:ea typeface="Noto Serif SC"/>
                <a:cs typeface="Noto Serif SC"/>
                <a:sym typeface="Noto Serif SC"/>
              </a:rPr>
              <a:t> Huang Y, Guo J, Mao W, et al. Exploring the Landscape of Text-to-SQL with Large Language Models: Progresses, Challenges and Opportunities[J]. arXiv preprint arXiv:2505.23838, 2025.</a:t>
            </a:r>
          </a:p>
          <a:p>
            <a:pPr marL="0" indent="0" algn="l">
              <a:lnSpc>
                <a:spcPct val="125000"/>
              </a:lnSpc>
            </a:pPr>
            <a:r>
              <a:rPr lang="en-US" sz="1000" b="1" i="0" u="none" strike="noStrike">
                <a:solidFill>
                  <a:srgbClr val="1E5A8E"/>
                </a:solidFill>
                <a:latin typeface="Noto Serif SC"/>
                <a:ea typeface="Noto Serif SC"/>
                <a:cs typeface="Noto Serif SC"/>
                <a:sym typeface="Noto Serif SC"/>
              </a:rPr>
              <a:t>[3]</a:t>
            </a:r>
            <a:r>
              <a:rPr lang="en-US" sz="1000" b="0" i="0" u="none" strike="noStrike">
                <a:solidFill>
                  <a:srgbClr val="3C3C3C"/>
                </a:solidFill>
                <a:latin typeface="Noto Serif SC"/>
                <a:ea typeface="Noto Serif SC"/>
                <a:cs typeface="Noto Serif SC"/>
                <a:sym typeface="Noto Serif SC"/>
              </a:rPr>
              <a:t> Singh A, Shetty A, Ehtesham A, et al. A Survey of Large Language Model-Based Generative AI for Text-to-SQL: Benchmarks, Applications, Use Cases, and Challenges[J]. arXiv preprint arXiv:2412.05208, 2024.</a:t>
            </a:r>
          </a:p>
          <a:p>
            <a:pPr marL="0" indent="0" algn="l">
              <a:lnSpc>
                <a:spcPct val="125000"/>
              </a:lnSpc>
            </a:pPr>
            <a:r>
              <a:rPr lang="en-US" sz="1000" b="1" i="0" u="none" strike="noStrike">
                <a:solidFill>
                  <a:srgbClr val="1E5A8E"/>
                </a:solidFill>
                <a:latin typeface="Noto Serif SC"/>
                <a:ea typeface="Noto Serif SC"/>
                <a:cs typeface="Noto Serif SC"/>
                <a:sym typeface="Noto Serif SC"/>
              </a:rPr>
              <a:t>[4]</a:t>
            </a:r>
            <a:r>
              <a:rPr lang="en-US" sz="1000" b="0" i="0" u="none" strike="noStrike">
                <a:solidFill>
                  <a:srgbClr val="3C3C3C"/>
                </a:solidFill>
                <a:latin typeface="Noto Serif SC"/>
                <a:ea typeface="Noto Serif SC"/>
                <a:cs typeface="Noto Serif SC"/>
                <a:sym typeface="Noto Serif SC"/>
              </a:rPr>
              <a:t> Li J, Hui B, Qu G, et al. Can LLM Already Serve as A Database Interface? A BIg Bench for Large-Scale Database Grounded Text-to-SQLs[C]. NeurIPS, 2023.</a:t>
            </a:r>
          </a:p>
          <a:p>
            <a:pPr marL="0" indent="0" algn="l">
              <a:lnSpc>
                <a:spcPct val="125000"/>
              </a:lnSpc>
            </a:pPr>
            <a:r>
              <a:rPr lang="en-US" sz="1000" b="1" i="0" u="none" strike="noStrike">
                <a:solidFill>
                  <a:srgbClr val="1E5A8E"/>
                </a:solidFill>
                <a:latin typeface="Noto Serif SC"/>
                <a:ea typeface="Noto Serif SC"/>
                <a:cs typeface="Noto Serif SC"/>
                <a:sym typeface="Noto Serif SC"/>
              </a:rPr>
              <a:t>[5]</a:t>
            </a:r>
            <a:r>
              <a:rPr lang="en-US" sz="1000" b="0" i="0" u="none" strike="noStrike">
                <a:solidFill>
                  <a:srgbClr val="3C3C3C"/>
                </a:solidFill>
                <a:latin typeface="Noto Serif SC"/>
                <a:ea typeface="Noto Serif SC"/>
                <a:cs typeface="Noto Serif SC"/>
                <a:sym typeface="Noto Serif SC"/>
              </a:rPr>
              <a:t> Qu G, Li J, Li B, et al. Before Generation, Align it! A Novel and Effective Strategy for Mitigating Hallucinations in Text-to-SQL Generation[C]. ACL Findings, 2024.</a:t>
            </a:r>
          </a:p>
          <a:p>
            <a:pPr marL="0" indent="0" algn="l">
              <a:lnSpc>
                <a:spcPct val="125000"/>
              </a:lnSpc>
            </a:pPr>
            <a:r>
              <a:rPr lang="en-US" sz="1000" b="1" i="0" u="none" strike="noStrike">
                <a:solidFill>
                  <a:srgbClr val="1E5A8E"/>
                </a:solidFill>
                <a:latin typeface="Noto Serif SC"/>
                <a:ea typeface="Noto Serif SC"/>
                <a:cs typeface="Noto Serif SC"/>
                <a:sym typeface="Noto Serif SC"/>
              </a:rPr>
              <a:t>[6]</a:t>
            </a:r>
            <a:r>
              <a:rPr lang="en-US" sz="1000" b="0" i="0" u="none" strike="noStrike">
                <a:solidFill>
                  <a:srgbClr val="3C3C3C"/>
                </a:solidFill>
                <a:latin typeface="Noto Serif SC"/>
                <a:ea typeface="Noto Serif SC"/>
                <a:cs typeface="Noto Serif SC"/>
                <a:sym typeface="Noto Serif SC"/>
              </a:rPr>
              <a:t> BIRD-SQL. A Big Bench for Large-Scale Database Grounded Text-to-SQLs[EB/OL]. https://bird-bench.github.io/.</a:t>
            </a:r>
          </a:p>
        </p:txBody>
      </p:sp>
      <p:sp>
        <p:nvSpPr>
          <p:cNvPr id="6" name="AutoShape 6"/>
          <p:cNvSpPr/>
          <p:nvPr/>
        </p:nvSpPr>
        <p:spPr>
          <a:xfrm>
            <a:off x="6223000" y="1333500"/>
            <a:ext cx="4953000" cy="4191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000" b="1" i="0" u="none" strike="noStrike">
                <a:solidFill>
                  <a:srgbClr val="1E5A8E"/>
                </a:solidFill>
                <a:latin typeface="Noto Serif SC"/>
                <a:ea typeface="Noto Serif SC"/>
                <a:cs typeface="Noto Serif SC"/>
                <a:sym typeface="Noto Serif SC"/>
              </a:rPr>
              <a:t>[7]</a:t>
            </a:r>
            <a:r>
              <a:rPr lang="en-US" sz="1000" b="0" i="0" u="none" strike="noStrike">
                <a:solidFill>
                  <a:srgbClr val="3C3C3C"/>
                </a:solidFill>
                <a:latin typeface="Noto Serif SC"/>
                <a:ea typeface="Noto Serif SC"/>
                <a:cs typeface="Noto Serif SC"/>
                <a:sym typeface="Noto Serif SC"/>
              </a:rPr>
              <a:t> ThoughtSpot. What Is an Agentic Semantic Layer, and Why Does It Matter?[EB/OL]. https://www.thoughtspot.com/data-trends/agentic-semantic-layer.</a:t>
            </a:r>
            <a:endParaRPr lang="en-US" sz="1100"/>
          </a:p>
          <a:p>
            <a:pPr marL="0" indent="0" algn="l">
              <a:lnSpc>
                <a:spcPct val="125000"/>
              </a:lnSpc>
            </a:pPr>
            <a:r>
              <a:rPr lang="en-US" sz="1000" b="1" i="0" u="none" strike="noStrike">
                <a:solidFill>
                  <a:srgbClr val="1E5A8E"/>
                </a:solidFill>
                <a:latin typeface="Noto Serif SC"/>
                <a:ea typeface="Noto Serif SC"/>
                <a:cs typeface="Noto Serif SC"/>
                <a:sym typeface="Noto Serif SC"/>
              </a:rPr>
              <a:t>[8]</a:t>
            </a:r>
            <a:r>
              <a:rPr lang="en-US" sz="1000" b="0" i="0" u="none" strike="noStrike">
                <a:solidFill>
                  <a:srgbClr val="3C3C3C"/>
                </a:solidFill>
                <a:latin typeface="Noto Serif SC"/>
                <a:ea typeface="Noto Serif SC"/>
                <a:cs typeface="Noto Serif SC"/>
                <a:sym typeface="Noto Serif SC"/>
              </a:rPr>
              <a:t> Microsoft. 什么是 Fabric 中的 Copilot？[EB/OL]. https://learn.microsoft.com/zh-tw/fabric/fundamentals/copilot-fabric-overview.</a:t>
            </a:r>
          </a:p>
          <a:p>
            <a:pPr marL="0" indent="0" algn="l">
              <a:lnSpc>
                <a:spcPct val="125000"/>
              </a:lnSpc>
            </a:pPr>
            <a:r>
              <a:rPr lang="en-US" sz="1000" b="1" i="0" u="none" strike="noStrike">
                <a:solidFill>
                  <a:srgbClr val="1E5A8E"/>
                </a:solidFill>
                <a:latin typeface="Noto Serif SC"/>
                <a:ea typeface="Noto Serif SC"/>
                <a:cs typeface="Noto Serif SC"/>
                <a:sym typeface="Noto Serif SC"/>
              </a:rPr>
              <a:t>[9]</a:t>
            </a:r>
            <a:r>
              <a:rPr lang="en-US" sz="1000" b="0" i="0" u="none" strike="noStrike">
                <a:solidFill>
                  <a:srgbClr val="3C3C3C"/>
                </a:solidFill>
                <a:latin typeface="Noto Serif SC"/>
                <a:ea typeface="Noto Serif SC"/>
                <a:cs typeface="Noto Serif SC"/>
                <a:sym typeface="Noto Serif SC"/>
              </a:rPr>
              <a:t> 阿里云 DataWorks. ChatBI 会话[EB/OL]. https://help.aliyun.com/zh/dataworks/user-guide/chatbi-session.</a:t>
            </a:r>
          </a:p>
          <a:p>
            <a:pPr marL="0" indent="0" algn="l">
              <a:lnSpc>
                <a:spcPct val="125000"/>
              </a:lnSpc>
            </a:pPr>
            <a:r>
              <a:rPr lang="en-US" sz="1000" b="1" i="0" u="none" strike="noStrike">
                <a:solidFill>
                  <a:srgbClr val="1E5A8E"/>
                </a:solidFill>
                <a:latin typeface="Noto Serif SC"/>
                <a:ea typeface="Noto Serif SC"/>
                <a:cs typeface="Noto Serif SC"/>
                <a:sym typeface="Noto Serif SC"/>
              </a:rPr>
              <a:t>[10]</a:t>
            </a:r>
            <a:r>
              <a:rPr lang="en-US" sz="1000" b="0" i="0" u="none" strike="noStrike">
                <a:solidFill>
                  <a:srgbClr val="3C3C3C"/>
                </a:solidFill>
                <a:latin typeface="Noto Serif SC"/>
                <a:ea typeface="Noto Serif SC"/>
                <a:cs typeface="Noto Serif SC"/>
                <a:sym typeface="Noto Serif SC"/>
              </a:rPr>
              <a:t> Microsoft. Run an evaluation for an agent[EB/OL]. https://learn.microsoft.com/en-ie/microsoft-copilot-studio/agents-experience/analytics-agent-evaluation-results.</a:t>
            </a:r>
          </a:p>
          <a:p>
            <a:pPr marL="0" indent="0" algn="l">
              <a:lnSpc>
                <a:spcPct val="125000"/>
              </a:lnSpc>
            </a:pPr>
            <a:r>
              <a:rPr lang="en-US" sz="1000" b="1" i="0" u="none" strike="noStrike">
                <a:solidFill>
                  <a:srgbClr val="1E5A8E"/>
                </a:solidFill>
                <a:latin typeface="Noto Serif SC"/>
                <a:ea typeface="Noto Serif SC"/>
                <a:cs typeface="Noto Serif SC"/>
                <a:sym typeface="Noto Serif SC"/>
              </a:rPr>
              <a:t>[11]</a:t>
            </a:r>
            <a:r>
              <a:rPr lang="en-US" sz="1000" b="0" i="0" u="none" strike="noStrike">
                <a:solidFill>
                  <a:srgbClr val="3C3C3C"/>
                </a:solidFill>
                <a:latin typeface="Noto Serif SC"/>
                <a:ea typeface="Noto Serif SC"/>
                <a:cs typeface="Noto Serif SC"/>
                <a:sym typeface="Noto Serif SC"/>
              </a:rPr>
              <a:t> Microsoft. 快速入门：使用 Web 门户监视第一个指标[EB/OL]. https://learn.microsoft.com/zh-cn/azure/ai-services/metrics-advisor/quickstarts/web-portal.</a:t>
            </a:r>
          </a:p>
          <a:p>
            <a:pPr marL="0" indent="0" algn="l">
              <a:lnSpc>
                <a:spcPct val="125000"/>
              </a:lnSpc>
            </a:pPr>
            <a:r>
              <a:rPr lang="en-US" sz="1000" b="1" i="0" u="none" strike="noStrike">
                <a:solidFill>
                  <a:srgbClr val="1E5A8E"/>
                </a:solidFill>
                <a:latin typeface="Noto Serif SC"/>
                <a:ea typeface="Noto Serif SC"/>
                <a:cs typeface="Noto Serif SC"/>
                <a:sym typeface="Noto Serif SC"/>
              </a:rPr>
              <a:t>[12]</a:t>
            </a:r>
            <a:r>
              <a:rPr lang="en-US" sz="1000" b="0" i="0" u="none" strike="noStrike">
                <a:solidFill>
                  <a:srgbClr val="3C3C3C"/>
                </a:solidFill>
                <a:latin typeface="Noto Serif SC"/>
                <a:ea typeface="Noto Serif SC"/>
                <a:cs typeface="Noto Serif SC"/>
                <a:sym typeface="Noto Serif SC"/>
              </a:rPr>
              <a:t> ThoughtSpot. Spotter Semantics—The Rosetta Stone for Agentic AI[EB/OL]. https://www.thoughtspot.com/blog/spotter-semantics.</a:t>
            </a:r>
          </a:p>
        </p:txBody>
      </p:sp>
      <p:cxnSp>
        <p:nvCxnSpPr>
          <p:cNvPr id="7" name="Connector 7"/>
          <p:cNvCxnSpPr/>
          <p:nvPr/>
        </p:nvCxnSpPr>
        <p:spPr>
          <a:xfrm rot="-4297">
            <a:off x="1016004" y="5772150"/>
            <a:ext cx="10160000" cy="12700"/>
          </a:xfrm>
          <a:prstGeom prst="straightConnector1">
            <a:avLst/>
          </a:prstGeom>
          <a:solidFill>
            <a:srgbClr val="DEE0E3">
              <a:alpha val="100000"/>
            </a:srgbClr>
          </a:solidFill>
          <a:ln w="12700" cap="flat" cmpd="sng">
            <a:solidFill>
              <a:srgbClr val="D5D5D0">
                <a:alpha val="100000"/>
              </a:srgbClr>
            </a:solidFill>
            <a:prstDash val="solid"/>
            <a:round/>
            <a:headEnd type="none" w="med" len="med"/>
            <a:tailEnd type="none" w="med" len="med"/>
          </a:ln>
        </p:spPr>
      </p:cxnSp>
      <p:sp>
        <p:nvSpPr>
          <p:cNvPr id="8" name="AutoShape 8"/>
          <p:cNvSpPr/>
          <p:nvPr/>
        </p:nvSpPr>
        <p:spPr>
          <a:xfrm>
            <a:off x="1016000" y="5905500"/>
            <a:ext cx="1016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787878"/>
                </a:solidFill>
                <a:latin typeface="Noto Serif SC"/>
                <a:ea typeface="Noto Serif SC"/>
                <a:cs typeface="Noto Serif SC"/>
                <a:sym typeface="Noto Serif SC"/>
              </a:rPr>
              <a:t>注：参考文献涵盖Text-to-SQL综述与基准（[1]-[6]）、语义层与智能BI产品（[7]-[9]）、Agent评测与指标管理（[10]-[12]）三大方向。</a:t>
            </a:r>
            <a:endParaRPr lang="en-US" sz="1100"/>
          </a:p>
        </p:txBody>
      </p:sp>
      <p:sp>
        <p:nvSpPr>
          <p:cNvPr id="9" name="AutoShape 9"/>
          <p:cNvSpPr/>
          <p:nvPr/>
        </p:nvSpPr>
        <p:spPr>
          <a:xfrm>
            <a:off x="1016000" y="6286500"/>
            <a:ext cx="10160000" cy="3175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000" b="0" i="0" u="none" strike="noStrike">
                <a:solidFill>
                  <a:srgbClr val="888888"/>
                </a:solidFill>
                <a:latin typeface="Noto Serif SC"/>
                <a:ea typeface="Noto Serif SC"/>
                <a:cs typeface="Noto Serif SC"/>
                <a:sym typeface="Noto Serif SC"/>
              </a:rPr>
              <a:t>10 / 参考文献</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5A8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76200"/>
          </a:xfrm>
          <a:prstGeom prst="roundRect">
            <a:avLst>
              <a:gd name="adj" fmla="val 0"/>
            </a:avLst>
          </a:prstGeom>
          <a:solidFill>
            <a:srgbClr val="C9A96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3"/>
          <a:srcRect l="3233" r="3233"/>
          <a:stretch>
            <a:fillRect/>
          </a:stretch>
        </p:blipFill>
        <p:spPr>
          <a:xfrm>
            <a:off x="5397500" y="1016000"/>
            <a:ext cx="1397000" cy="1397000"/>
          </a:xfrm>
          <a:prstGeom prst="rect">
            <a:avLst/>
          </a:prstGeom>
          <a:noFill/>
          <a:ln w="25400" cap="flat" cmpd="sng">
            <a:noFill/>
            <a:prstDash val="solid"/>
            <a:round/>
          </a:ln>
        </p:spPr>
      </p:pic>
      <p:sp>
        <p:nvSpPr>
          <p:cNvPr id="4" name="AutoShape 4"/>
          <p:cNvSpPr/>
          <p:nvPr/>
        </p:nvSpPr>
        <p:spPr>
          <a:xfrm>
            <a:off x="1016000" y="2667000"/>
            <a:ext cx="1016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400" b="1" i="0" u="none" strike="noStrike">
                <a:solidFill>
                  <a:srgbClr val="FFFFFF"/>
                </a:solidFill>
                <a:latin typeface="Noto Serif SC"/>
                <a:ea typeface="Noto Serif SC"/>
                <a:cs typeface="Noto Serif SC"/>
                <a:sym typeface="Noto Serif SC"/>
              </a:rPr>
              <a:t>感谢聆听</a:t>
            </a:r>
            <a:endParaRPr lang="en-US" sz="1100"/>
          </a:p>
        </p:txBody>
      </p:sp>
      <p:cxnSp>
        <p:nvCxnSpPr>
          <p:cNvPr id="5" name="Connector 5"/>
          <p:cNvCxnSpPr/>
          <p:nvPr/>
        </p:nvCxnSpPr>
        <p:spPr>
          <a:xfrm rot="-24554">
            <a:off x="5207023" y="3740150"/>
            <a:ext cx="1778000" cy="12700"/>
          </a:xfrm>
          <a:prstGeom prst="straightConnector1">
            <a:avLst/>
          </a:prstGeom>
          <a:solidFill>
            <a:srgbClr val="DEE0E3">
              <a:alpha val="100000"/>
            </a:srgbClr>
          </a:solidFill>
          <a:ln w="25400" cap="flat" cmpd="sng">
            <a:solidFill>
              <a:srgbClr val="C9A961">
                <a:alpha val="100000"/>
              </a:srgbClr>
            </a:solidFill>
            <a:prstDash val="solid"/>
            <a:round/>
            <a:headEnd type="none" w="lg" len="lg"/>
            <a:tailEnd type="none" w="lg" len="lg"/>
          </a:ln>
        </p:spPr>
      </p:cxnSp>
      <p:sp>
        <p:nvSpPr>
          <p:cNvPr id="6" name="AutoShape 6"/>
          <p:cNvSpPr/>
          <p:nvPr/>
        </p:nvSpPr>
        <p:spPr>
          <a:xfrm>
            <a:off x="1016000" y="4000500"/>
            <a:ext cx="101600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C8DCF0"/>
                </a:solidFill>
                <a:latin typeface="Noto Serif SC"/>
                <a:ea typeface="Noto Serif SC"/>
                <a:cs typeface="Noto Serif SC"/>
                <a:sym typeface="Noto Serif SC"/>
              </a:rPr>
              <a:t>恳请各位老师批评指正</a:t>
            </a:r>
            <a:endParaRPr lang="en-US" sz="1100"/>
          </a:p>
        </p:txBody>
      </p:sp>
      <p:sp>
        <p:nvSpPr>
          <p:cNvPr id="7" name="AutoShape 7"/>
          <p:cNvSpPr/>
          <p:nvPr/>
        </p:nvSpPr>
        <p:spPr>
          <a:xfrm>
            <a:off x="1016000" y="4953000"/>
            <a:ext cx="10160000" cy="1016000"/>
          </a:xfrm>
          <a:prstGeom prst="rect">
            <a:avLst/>
          </a:prstGeom>
          <a:noFill/>
          <a:ln w="12700" cap="flat" cmpd="sng">
            <a:noFill/>
            <a:prstDash val="solid"/>
            <a:round/>
          </a:ln>
        </p:spPr>
        <p:txBody>
          <a:bodyPr vert="horz" wrap="square" lIns="0" tIns="0" rIns="0" bIns="0" rtlCol="0" anchor="t" anchorCtr="0"/>
          <a:lstStyle/>
          <a:p>
            <a:pPr marL="0" indent="0" algn="ctr">
              <a:lnSpc>
                <a:spcPct val="150000"/>
              </a:lnSpc>
              <a:defRPr/>
            </a:pPr>
            <a:r>
              <a:rPr lang="en-US" sz="1300" b="0" i="0" u="none" strike="noStrike">
                <a:solidFill>
                  <a:srgbClr val="B4CDE6"/>
                </a:solidFill>
                <a:latin typeface="Noto Serif SC"/>
                <a:ea typeface="Noto Serif SC"/>
                <a:cs typeface="Noto Serif SC"/>
                <a:sym typeface="Noto Serif SC"/>
              </a:rPr>
              <a:t>汇报人：陈琦　　指导教师：韦善于</a:t>
            </a:r>
            <a:endParaRPr lang="en-US" sz="1100"/>
          </a:p>
          <a:p>
            <a:pPr marL="0" indent="0" algn="ctr">
              <a:lnSpc>
                <a:spcPct val="150000"/>
              </a:lnSpc>
            </a:pPr>
            <a:r>
              <a:rPr lang="en-US" sz="1300" b="0" i="0" u="none" strike="noStrike">
                <a:solidFill>
                  <a:srgbClr val="B4CDE6"/>
                </a:solidFill>
                <a:latin typeface="Noto Serif SC"/>
                <a:ea typeface="Noto Serif SC"/>
                <a:cs typeface="Noto Serif SC"/>
                <a:sym typeface="Noto Serif SC"/>
              </a:rPr>
              <a:t>玉林师范学院　人工智能学院　数据科学与大数据技术</a:t>
            </a:r>
          </a:p>
          <a:p>
            <a:pPr marL="0" indent="0" algn="ctr">
              <a:lnSpc>
                <a:spcPct val="150000"/>
              </a:lnSpc>
            </a:pPr>
            <a:r>
              <a:rPr lang="en-US" sz="1300" b="0" i="0" u="none" strike="noStrike">
                <a:solidFill>
                  <a:srgbClr val="B4CDE6"/>
                </a:solidFill>
                <a:latin typeface="Noto Serif SC"/>
                <a:ea typeface="Noto Serif SC"/>
                <a:cs typeface="Noto Serif SC"/>
                <a:sym typeface="Noto Serif SC"/>
              </a:rPr>
              <a:t>2026年9月</a:t>
            </a:r>
          </a:p>
        </p:txBody>
      </p:sp>
      <p:sp>
        <p:nvSpPr>
          <p:cNvPr id="8" name="AutoShape 8"/>
          <p:cNvSpPr/>
          <p:nvPr/>
        </p:nvSpPr>
        <p:spPr>
          <a:xfrm>
            <a:off x="0" y="6781800"/>
            <a:ext cx="12192000" cy="76200"/>
          </a:xfrm>
          <a:prstGeom prst="roundRect">
            <a:avLst>
              <a:gd name="adj" fmla="val 0"/>
            </a:avLst>
          </a:prstGeom>
          <a:solidFill>
            <a:srgbClr val="C9A961">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TotalTime>
  <Words>1873</Words>
  <Application>Microsoft Macintosh PowerPoint</Application>
  <PresentationFormat>宽屏</PresentationFormat>
  <Paragraphs>284</Paragraphs>
  <Slides>15</Slides>
  <Notes>13</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15</vt:i4>
      </vt:variant>
    </vt:vector>
  </HeadingPairs>
  <TitlesOfParts>
    <vt:vector size="20" baseType="lpstr">
      <vt:lpstr>Noto Sans SC</vt:lpstr>
      <vt:lpstr>Noto Serif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description>﻿﻿﻿﻿﻿﻿﻿﻿﻿﻿﻿﻿﻿﻿﻿﻿﻿﻿⁣⁣⁢‍﻿⁡</dc:description>
  <cp:lastModifiedBy>陈琦 Qi Chen</cp:lastModifiedBy>
  <cp:revision>3</cp:revision>
  <dcterms:modified xsi:type="dcterms:W3CDTF">2026-09-10T13:38:23Z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{"Label":"1","ContentProducer":"001191110102MACQD9K64010000","ProduceID":"7683345070288096434","ReservedCode1":"","ContentPropagator":"","PropagateID":"","ReservedCode2":""}</vt:lpwstr>
  </property>
</Properties>
</file>